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88952" cy="173736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1097280" cy="73152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Bayesian Sports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BBDEFB"/>
                </a:solidFill>
              </a:rPr>
              <a:t>Prédire les résultats de Premier League
avec l'inférence bayésienne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2578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Cian Higgins  ·  Jules Dantin  ·  Hugo Ferré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064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BDEFB"/>
                </a:solidFill>
              </a:rPr>
              <a:t>ECE Paris · IA Probabiliste 2026 · Groupe 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La question centrale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ECE Paris · Groupe 02 · Bayesian Sports Analytics · 31 mars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47120" cy="2011680"/>
          </a:xfrm>
          <a:prstGeom prst="rect">
            <a:avLst/>
          </a:prstGeom>
          <a:solidFill>
            <a:srgbClr val="E3F2FD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237E"/>
                </a:solidFill>
              </a:rPr>
              <a:t>Peut-on prédire les résultats de football
mieux que les bookmakers 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657600"/>
            <a:ext cx="365760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37474F"/>
                </a:solidFill>
              </a:rPr>
              <a:t>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805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237E"/>
                </a:solidFill>
              </a:rPr>
              <a:t>Données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834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7474F"/>
                </a:solidFill>
              </a:rPr>
              <a:t>3 saisons · 1 100 matchs · Premier League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0832" y="3657600"/>
            <a:ext cx="365760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0832" y="3749039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37474F"/>
                </a:solidFill>
              </a:rPr>
              <a:t>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0832" y="44805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237E"/>
                </a:solidFill>
              </a:rPr>
              <a:t>Modèle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2" y="49834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7474F"/>
                </a:solidFill>
              </a:rPr>
              <a:t>Distribution de Poisson + priors bayésiens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84464" y="3657600"/>
            <a:ext cx="365760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3749039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37474F"/>
                </a:solidFill>
              </a:rPr>
              <a:t>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44805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237E"/>
                </a:solidFill>
              </a:rPr>
              <a:t>Objectif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49834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7474F"/>
                </a:solidFill>
              </a:rPr>
              <a:t>Trouver des paris à valeur positive (value bets)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Les données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BDEFB"/>
                </a:solidFill>
              </a:rPr>
              <a:t>football-data.co.uk — accès libre, aucune clé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ECE Paris · Groupe 02 · Bayesian Sports Analytics · 31 mars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60320" cy="14630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1 100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matchs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371600"/>
            <a:ext cx="2560320" cy="14630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50876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2402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équipes/saison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371600"/>
            <a:ext cx="2560320" cy="14630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50876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2402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saisons 2022–25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1371600"/>
            <a:ext cx="2560320" cy="14630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150876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2402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marge Bet365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108960"/>
            <a:ext cx="11247120" cy="15544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154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37E"/>
                </a:solidFill>
              </a:rPr>
              <a:t>Split train /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566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7474F"/>
                </a:solidFill>
              </a:rPr>
              <a:t>TRAIN : 3 saisons complètes sauf les 5 dernières matchweeks  →  1 100 matchs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9319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7474F"/>
                </a:solidFill>
              </a:rPr>
              <a:t>TEST  : 5 dernières matchweeks 2024-25  →  20 matchs  (simulation prédiction live)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4632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800" b="1">
                <a:solidFill>
                  <a:srgbClr val="1A237E"/>
                </a:solidFill>
              </a:rPr>
              <a:t>▶  FTHG / FTAG — buts domicile et extérieur (full-time)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237E"/>
                </a:solidFill>
              </a:rPr>
              <a:t>▶  FTR — résultat final : H (home), D (draw), A (away)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237E"/>
                </a:solidFill>
              </a:rPr>
              <a:t>▶  B365H / B365D / B365A — cotes Bet365 pour chaque issue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Pourquoi la loi de Poisson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BDEFB"/>
                </a:solidFill>
              </a:rPr>
              <a:t>Les buts sont des événements rares et indépendants → Poisson est le bon choix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ECE Paris · Groupe 02 · Bayesian Sports Analytics · 31 mars 2026</a:t>
            </a:r>
          </a:p>
        </p:txBody>
      </p:sp>
      <p:pic>
        <p:nvPicPr>
          <p:cNvPr id="6" name="Picture 5" descr="poisson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08760"/>
            <a:ext cx="557784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55448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900" b="1">
                <a:solidFill>
                  <a:srgbClr val="1A237E"/>
                </a:solidFill>
              </a:rPr>
              <a:t>▶  Un but = événement rare sur 90 minutes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37474F"/>
                </a:solidFill>
              </a:rPr>
              <a:t>      → Poisson modélise exactement ça</a:t>
            </a:r>
          </a:p>
          <a:p>
            <a:pPr>
              <a:spcBef>
                <a:spcPts val="1000"/>
              </a:spcBef>
            </a:pPr>
            <a:r>
              <a:rPr sz="1900" b="1">
                <a:solidFill>
                  <a:srgbClr val="1A237E"/>
                </a:solidFill>
              </a:rPr>
              <a:t>▶  </a:t>
            </a:r>
          </a:p>
          <a:p>
            <a:pPr>
              <a:spcBef>
                <a:spcPts val="1000"/>
              </a:spcBef>
            </a:pPr>
            <a:r>
              <a:rPr sz="1900" b="1">
                <a:solidFill>
                  <a:srgbClr val="1A237E"/>
                </a:solidFill>
              </a:rPr>
              <a:t>▶  Paramètre λ = nombre moyen de buts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37474F"/>
                </a:solidFill>
              </a:rPr>
              <a:t>      → λ_domicile ≈ 1.50  /  λ_extérieur ≈ 1.22</a:t>
            </a:r>
          </a:p>
          <a:p>
            <a:pPr>
              <a:spcBef>
                <a:spcPts val="1000"/>
              </a:spcBef>
            </a:pPr>
            <a:r>
              <a:rPr sz="1900" b="1">
                <a:solidFill>
                  <a:srgbClr val="1A237E"/>
                </a:solidFill>
              </a:rPr>
              <a:t>▶  </a:t>
            </a:r>
          </a:p>
          <a:p>
            <a:pPr>
              <a:spcBef>
                <a:spcPts val="1000"/>
              </a:spcBef>
            </a:pPr>
            <a:r>
              <a:rPr sz="1900" b="1">
                <a:solidFill>
                  <a:srgbClr val="1A237E"/>
                </a:solidFill>
              </a:rPr>
              <a:t>▶  Test KS : p &gt; 0.05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37474F"/>
                </a:solidFill>
              </a:rPr>
              <a:t>      → Poisson validé statistiquement</a:t>
            </a:r>
          </a:p>
          <a:p>
            <a:pPr>
              <a:spcBef>
                <a:spcPts val="1000"/>
              </a:spcBef>
            </a:pPr>
            <a:r>
              <a:rPr sz="1900" b="1">
                <a:solidFill>
                  <a:srgbClr val="1A237E"/>
                </a:solidFill>
              </a:rPr>
              <a:t>▶  </a:t>
            </a:r>
          </a:p>
          <a:p>
            <a:pPr>
              <a:spcBef>
                <a:spcPts val="1000"/>
              </a:spcBef>
            </a:pPr>
            <a:r>
              <a:rPr sz="1900" b="1">
                <a:solidFill>
                  <a:srgbClr val="1A237E"/>
                </a:solidFill>
              </a:rPr>
              <a:t>▶  Buts dom. et ext. peu corrélés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37474F"/>
                </a:solidFill>
              </a:rPr>
              <a:t>      → On peut les modéliser indépendamment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Le modèle en 2 formules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BDEFB"/>
                </a:solidFill>
              </a:rPr>
              <a:t>Chaque équipe a ses propres paramètres d'attaque et de défense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ECE Paris · Groupe 02 · Bayesian Sports Analytics · 31 mars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669280" cy="3474720"/>
          </a:xfrm>
          <a:prstGeom prst="rect">
            <a:avLst/>
          </a:prstGeom>
          <a:solidFill>
            <a:srgbClr val="E3F2FD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5212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237E"/>
                </a:solidFill>
              </a:rPr>
              <a:t>Buts domicile  ~  Poisson( θ_dom )
Buts extérieur ~  Poisson( θ_ext )
log(θ_dom) = μ + δ + attaque[dom] − défense[ext]
log(θ_ext) = μ     + attaque[ext] − défense[dom]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166360"/>
            <a:ext cx="1645920" cy="347472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5204460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7474F"/>
                </a:solidFill>
              </a:rPr>
              <a:t>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5204460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7474F"/>
                </a:solidFill>
              </a:rPr>
              <a:t>→  Base de buts (même pour tous)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559552"/>
            <a:ext cx="1645920" cy="347472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5597652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E7D32"/>
                </a:solidFill>
              </a:rPr>
              <a:t>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5597652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7474F"/>
                </a:solidFill>
              </a:rPr>
              <a:t>→  Avantage à domicile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952744"/>
            <a:ext cx="1645920" cy="347472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5990844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976D2"/>
                </a:solidFill>
              </a:rPr>
              <a:t>attaque[k]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5990844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7474F"/>
                </a:solidFill>
              </a:rPr>
              <a:t>→  Force d'attaque de l'équipe 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345936"/>
            <a:ext cx="1645920" cy="347472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384036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62828"/>
                </a:solidFill>
              </a:rPr>
              <a:t>défense[k]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6384036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7474F"/>
                </a:solidFill>
              </a:rPr>
              <a:t>→  Solidité défensive de l'équipe 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1463040"/>
            <a:ext cx="521208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37E"/>
                </a:solidFill>
              </a:rPr>
              <a:t>Exemple : Arsenal (dom)  vs  Chelsea (ext)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377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4F"/>
                </a:solidFill>
              </a:rPr>
              <a:t>λ_Arsenal  =  exp( μ + δ + attaque_ARS − défense_CHE 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23774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2E7D32"/>
                </a:solidFill>
              </a:rPr>
              <a:t>≈ 1.8 buts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926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4F"/>
                </a:solidFill>
              </a:rPr>
              <a:t>λ_Chelsea  =  exp( μ     + attaque_CHE − défense_ARS 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29260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2E7D32"/>
                </a:solidFill>
              </a:rPr>
              <a:t>≈ 1.1 buts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29184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37E"/>
                </a:solidFill>
              </a:rPr>
              <a:t>→  P(Arsenal gagne) = 52%
→  P(Nul)            = 22%
→  P(Chelsea gagne) = 26%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Pourquoi 'hiérarchique'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BDEFB"/>
                </a:solidFill>
              </a:rPr>
              <a:t>Toutes les équipes partagent de l'information entre elles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ECE Paris · Groupe 02 · Bayesian Sports Analytics · 31 mars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1417320"/>
            <a:ext cx="3931920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150876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μ_α,  σ_α  (Hyperpriors)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4231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976D2"/>
                </a:solidFill>
              </a:rPr>
              <a:t>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4231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976D2"/>
                </a:solidFill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4231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976D2"/>
                </a:solidFill>
              </a:rP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24231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976D2"/>
                </a:solidFill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71800"/>
            <a:ext cx="2560320" cy="8686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035808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attaque[Arsenal]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2971800"/>
            <a:ext cx="2560320" cy="8686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3035808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attaque[Man City]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971800"/>
            <a:ext cx="2560320" cy="8686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035808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attaque[Chelsea]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2971800"/>
            <a:ext cx="2560320" cy="8686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3035808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attaque[Liverpool]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069080"/>
            <a:ext cx="11247120" cy="24231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60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237E"/>
                </a:solidFill>
              </a:rPr>
              <a:t>Ce que ça change concrètement 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663440"/>
            <a:ext cx="10972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 b="1">
                <a:solidFill>
                  <a:srgbClr val="1A237E"/>
                </a:solidFill>
              </a:rPr>
              <a:t>▶  Ipswich vient de monter → peu de matchs dans les données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37474F"/>
                </a:solidFill>
              </a:rPr>
              <a:t>      → Le modèle s'appuie sur la moyenne de toutes les équipes pour l'estimer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1A237E"/>
                </a:solidFill>
              </a:rPr>
              <a:t>▶  Man City a plein de données → son paramètre est précis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37474F"/>
                </a:solidFill>
              </a:rPr>
              <a:t>      → Le modèle lui fait davantage confiance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1A237E"/>
                </a:solidFill>
              </a:rPr>
              <a:t>▶  Résultat : pas d'overfitting sur les petites équipes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Comment on trouve les paramètres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BDEFB"/>
                </a:solidFill>
              </a:rPr>
              <a:t>MCMC (NUTS) — on explore l'espace des paramètres par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ECE Paris · Groupe 02 · Bayesian Sports Analytics · 31 mars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2651760" cy="173736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1. Proposer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8600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3F2FD"/>
                </a:solidFill>
              </a:rPr>
              <a:t>des valeurs
pour α, β, δ...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20116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237E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417320"/>
            <a:ext cx="2651760" cy="1737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50876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2. Évaluer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28600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3F2FD"/>
                </a:solidFill>
              </a:rPr>
              <a:t>est-ce que ça
correspond aux data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0116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237E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417320"/>
            <a:ext cx="2651760" cy="173736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50876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3. Accepter
ou rejeter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28600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3F2FD"/>
                </a:solidFill>
              </a:rPr>
              <a:t>selon la probabilité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20116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237E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81160" y="1417320"/>
            <a:ext cx="2651760" cy="1737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150876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4. Répéter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228600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3F2FD"/>
                </a:solidFill>
              </a:rPr>
              <a:t>8 000 fois
(2000 × 4 chaînes)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383280"/>
            <a:ext cx="11430000" cy="14630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4564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37E"/>
                </a:solidFill>
              </a:rPr>
              <a:t>Indicateurs de convergence (obligatoires à vérifier)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97763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7E"/>
                </a:solidFill>
              </a:rPr>
              <a:t>R-hat &lt; 1.01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7D32"/>
                </a:solidFill>
              </a:rPr>
              <a:t>✅ Chaînes convergées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397763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7E"/>
                </a:solidFill>
              </a:rPr>
              <a:t>ESS &gt; 400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7D32"/>
                </a:solidFill>
              </a:rPr>
              <a:t>✅ Samples indépendants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97763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7E"/>
                </a:solidFill>
              </a:rPr>
              <a:t>Trace plots chenille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7D32"/>
                </a:solidFill>
              </a:rPr>
              <a:t>✅ Bon mélange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97763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7E"/>
                </a:solidFill>
              </a:rPr>
              <a:t>Divergences NUTS ≈ 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7D32"/>
                </a:solidFill>
              </a:rPr>
              <a:t>✅ Exploration complète</a:t>
            </a:r>
          </a:p>
        </p:txBody>
      </p:sp>
      <p:pic>
        <p:nvPicPr>
          <p:cNvPr id="31" name="Picture 30" descr="trace_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5029200"/>
            <a:ext cx="1143000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L'avantage à domicile est réel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BDEFB"/>
                </a:solidFill>
              </a:rPr>
              <a:t>Le modèle le quantifie avec son incertitude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ECE Paris · Groupe 02 · Bayesian Sports Analytics · 31 mars 2026</a:t>
            </a:r>
          </a:p>
        </p:txBody>
      </p:sp>
      <p:pic>
        <p:nvPicPr>
          <p:cNvPr id="6" name="Picture 5" descr="home_advantage_poste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71600"/>
            <a:ext cx="5852160" cy="5029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1463040"/>
            <a:ext cx="2560320" cy="1463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&gt; 99.5%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P( δ &gt; 0 )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154680"/>
            <a:ext cx="2560320" cy="14630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29184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0.14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233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valeur moyenne de 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846320"/>
            <a:ext cx="2560320" cy="14630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98348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+15%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7150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de buts en plus
à domicile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14630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37E"/>
                </a:solidFill>
              </a:rPr>
              <a:t>Interprétation 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192024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7474F"/>
                </a:solidFill>
              </a:rPr>
              <a:t>exp(0.14) ≈ 1.15
→ 15% de buts supplémentaires
quand on joue à domicile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474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37474F"/>
                </a:solidFill>
              </a:rPr>
              <a:t>HDI 94% : [0.08, 0.20]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93192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7474F"/>
                </a:solidFill>
              </a:rPr>
              <a:t>L'intervalle ne contient pas 0
→ effet statistiquement robuste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Force de chaque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BDEFB"/>
                </a:solidFill>
              </a:rPr>
              <a:t>Le modèle apprend un paramètre d'attaque ET de défense par équipe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ECE Paris · Groupe 02 · Bayesian Sports Analytics · 31 mars 2026</a:t>
            </a:r>
          </a:p>
        </p:txBody>
      </p:sp>
      <p:pic>
        <p:nvPicPr>
          <p:cNvPr id="6" name="Picture 5" descr="attack_defense_quadr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17320"/>
            <a:ext cx="5577840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50876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800" b="1">
                <a:solidFill>
                  <a:srgbClr val="1A237E"/>
                </a:solidFill>
              </a:rPr>
              <a:t>▶  Attaque positive  →  marque plus que la moyenne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237E"/>
                </a:solidFill>
              </a:rPr>
              <a:t>▶  Défense faible    →  encaisse plus que la moyenne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237E"/>
                </a:solidFill>
              </a:rPr>
              <a:t>▶  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237E"/>
                </a:solidFill>
              </a:rPr>
              <a:t>▶  Top droite : fort en attaque, mauvais en défense</a:t>
            </a:r>
          </a:p>
          <a:p>
            <a:pPr>
              <a:spcBef>
                <a:spcPts val="300"/>
              </a:spcBef>
            </a:pPr>
            <a:r>
              <a:rPr sz="1500" b="0">
                <a:solidFill>
                  <a:srgbClr val="37474F"/>
                </a:solidFill>
              </a:rPr>
              <a:t>      → Ex : équipes offensives mais fragiles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237E"/>
                </a:solidFill>
              </a:rPr>
              <a:t>▶  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237E"/>
                </a:solidFill>
              </a:rPr>
              <a:t>▶  Top gauche : fort en attaque ET en défense</a:t>
            </a:r>
          </a:p>
          <a:p>
            <a:pPr>
              <a:spcBef>
                <a:spcPts val="300"/>
              </a:spcBef>
            </a:pPr>
            <a:r>
              <a:rPr sz="1500" b="0">
                <a:solidFill>
                  <a:srgbClr val="37474F"/>
                </a:solidFill>
              </a:rPr>
              <a:t>      → Les meilleures équipes (Man City, Arsenal...)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237E"/>
                </a:solidFill>
              </a:rPr>
              <a:t>▶  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237E"/>
                </a:solidFill>
              </a:rPr>
              <a:t>▶  Barres d'erreur = HDI 94% (incertitude du modèle)</a:t>
            </a:r>
          </a:p>
          <a:p>
            <a:pPr>
              <a:spcBef>
                <a:spcPts val="300"/>
              </a:spcBef>
            </a:pPr>
            <a:r>
              <a:rPr sz="1500" b="0">
                <a:solidFill>
                  <a:srgbClr val="37474F"/>
                </a:solidFill>
              </a:rPr>
              <a:t>      → Équipes avec peu de matchs = plus d'incertitude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Prédire un match spécifique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BDEFB"/>
                </a:solidFill>
              </a:rPr>
              <a:t>Exemple : Man City vs Arsenal — simulation Monte Carlo depuis le posterior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ECE Paris · Groupe 02 · Bayesian Sports Analytics · 31 mars 2026</a:t>
            </a:r>
          </a:p>
        </p:txBody>
      </p:sp>
      <p:pic>
        <p:nvPicPr>
          <p:cNvPr id="6" name="Picture 5" descr="scorelin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576072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92240" y="150876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A237E"/>
                </a:solidFill>
              </a:rPr>
              <a:t>Comment c'est calculé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103120"/>
            <a:ext cx="5394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800" b="1">
                <a:solidFill>
                  <a:srgbClr val="1A237E"/>
                </a:solidFill>
              </a:rPr>
              <a:t>▶  On tire 4 000 valeurs depuis le posterior</a:t>
            </a:r>
          </a:p>
          <a:p>
            <a:pPr>
              <a:spcBef>
                <a:spcPts val="300"/>
              </a:spcBef>
            </a:pPr>
            <a:r>
              <a:rPr sz="1500" b="0">
                <a:solidFill>
                  <a:srgbClr val="37474F"/>
                </a:solidFill>
              </a:rPr>
              <a:t>      → 4 000 valeurs de (attaque, défense, δ...)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237E"/>
                </a:solidFill>
              </a:rPr>
              <a:t>▶  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237E"/>
                </a:solidFill>
              </a:rPr>
              <a:t>▶  Pour chaque tirage, on simule le match</a:t>
            </a:r>
          </a:p>
          <a:p>
            <a:pPr>
              <a:spcBef>
                <a:spcPts val="300"/>
              </a:spcBef>
            </a:pPr>
            <a:r>
              <a:rPr sz="1500" b="0">
                <a:solidFill>
                  <a:srgbClr val="37474F"/>
                </a:solidFill>
              </a:rPr>
              <a:t>      → 4 000 scorelines possibles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237E"/>
                </a:solidFill>
              </a:rPr>
              <a:t>▶  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237E"/>
                </a:solidFill>
              </a:rPr>
              <a:t>▶  On agrège → distribution complète</a:t>
            </a:r>
          </a:p>
          <a:p>
            <a:pPr>
              <a:spcBef>
                <a:spcPts val="300"/>
              </a:spcBef>
            </a:pPr>
            <a:r>
              <a:rPr sz="1500" b="0">
                <a:solidFill>
                  <a:srgbClr val="37474F"/>
                </a:solidFill>
              </a:rPr>
              <a:t>      → P(2-1), P(1-0), P(0-0)...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5440680"/>
            <a:ext cx="5394960" cy="868680"/>
          </a:xfrm>
          <a:prstGeom prst="rect">
            <a:avLst/>
          </a:prstGeom>
          <a:solidFill>
            <a:srgbClr val="E3F2FD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557784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237E"/>
                </a:solidFill>
              </a:rPr>
              <a:t>P(Man City)  55%  ·  P(Nul)  22%  ·  P(Arsenal)  23%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Est-ce que ça marche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BDEFB"/>
                </a:solidFill>
              </a:rPr>
              <a:t>Évaluation sur les 5 dernières matchweeks de 2024-25 (20 matchs)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ECE Paris · Groupe 02 · Bayesian Sports Analytics · 31 mars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3566160" cy="14630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~50%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37474F"/>
                </a:solidFill>
              </a:rPr>
              <a:t>Baseline naïf : 43%
Bet365 : 53%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3566160" cy="14630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55448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~0.20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2860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RPS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01752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37474F"/>
                </a:solidFill>
              </a:rPr>
              <a:t>Ranked Probability Score
(plus bas = mieux)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417320"/>
            <a:ext cx="3566160" cy="1463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55448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2860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Calibration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01752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37474F"/>
                </a:solidFill>
              </a:rPr>
              <a:t>Probas prédites ≈
fréquences observées</a:t>
            </a:r>
          </a:p>
        </p:txBody>
      </p:sp>
      <p:pic>
        <p:nvPicPr>
          <p:cNvPr id="18" name="Picture 17" descr="calibration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977639"/>
            <a:ext cx="11338560" cy="24688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64465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37474F"/>
                </a:solidFill>
              </a:rPr>
              <a:t>Notre modèle est au niveau des bookmakers sans aucune donnée contextuelle (blessures, météo, etc.)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Trouver des paris rentables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BDEFB"/>
                </a:solidFill>
              </a:rPr>
              <a:t>Un value bet = notre modèle donne une probabilité plus élevée que le bookmaker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ECE Paris · Groupe 02 · Bayesian Sports Analytics · 31 mars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303520" cy="2286000"/>
          </a:xfrm>
          <a:prstGeom prst="rect">
            <a:avLst/>
          </a:prstGeom>
          <a:solidFill>
            <a:srgbClr val="E3F2FD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7474F"/>
                </a:solidFill>
              </a:rPr>
              <a:t>Bet365 pense : P(Arsenal) = 40%
→ cote = 1 / 0.40 = 2.50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A237E"/>
                </a:solidFill>
              </a:rPr>
              <a:t>Notre modèle : P(Arsenal) = 48%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834640"/>
            <a:ext cx="4937760" cy="685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9260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EV = 0.48 × 2.50 − 1 = +0.20  →  VALUE BET 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49039"/>
            <a:ext cx="5303520" cy="2697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840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37E"/>
                </a:solidFill>
              </a:rPr>
              <a:t>Critère de Kelly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4340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7474F"/>
                </a:solidFill>
              </a:rPr>
              <a:t>f* = (p × cote − 1) / (cote − 1)
f* = (0.48 × 2.50 − 1) / (2.50 − 1)
   = 0.20 / 1.50  =  13% du bankroll</a:t>
            </a:r>
          </a:p>
        </p:txBody>
      </p:sp>
      <p:pic>
        <p:nvPicPr>
          <p:cNvPr id="14" name="Picture 13" descr="model_vs_bookma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17320"/>
            <a:ext cx="57607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Backtest — simulation sur les données réelles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BDEFB"/>
                </a:solidFill>
              </a:rPr>
              <a:t>On rejoue la stratégie sur les 20 matchs de test avec les vrais résultats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ECE Paris · Groupe 02 · Bayesian Sports Analytics · 31 mars 2026</a:t>
            </a:r>
          </a:p>
        </p:txBody>
      </p:sp>
      <p:pic>
        <p:nvPicPr>
          <p:cNvPr id="6" name="Picture 5" descr="backtes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777240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03920" y="15087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237E"/>
                </a:solidFill>
              </a:rPr>
              <a:t>Stratégie Kelly 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103120"/>
            <a:ext cx="3383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600" b="1">
                <a:solidFill>
                  <a:srgbClr val="1A237E"/>
                </a:solidFill>
              </a:rPr>
              <a:t>▶  Bankroll initial : 1 000 €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1A237E"/>
                </a:solidFill>
              </a:rPr>
              <a:t>▶  Mise proportionnelle à l'avantage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1A237E"/>
                </a:solidFill>
              </a:rPr>
              <a:t>▶  Cap à 20% du bankroll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1A237E"/>
                </a:solidFill>
              </a:rPr>
              <a:t>▶  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1A237E"/>
                </a:solidFill>
              </a:rPr>
              <a:t>▶  Stratégie mise fixe :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1A237E"/>
                </a:solidFill>
              </a:rPr>
              <a:t>▶  Mise fixe : 20€ par pari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1A237E"/>
                </a:solidFill>
              </a:rPr>
              <a:t>▶  Référence pour comparaison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1A237E"/>
                </a:solidFill>
              </a:rPr>
              <a:t>▶  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1A237E"/>
                </a:solidFill>
              </a:rPr>
              <a:t>▶  Limite importante :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37474F"/>
                </a:solidFill>
              </a:rPr>
              <a:t>      20 matchs = petit échantillon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37474F"/>
                </a:solidFill>
              </a:rPr>
              <a:t>      Besoin de plus de données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37474F"/>
                </a:solidFill>
              </a:rPr>
              <a:t>      pour conclure définitivement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Le modèle dynamique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BDEFB"/>
                </a:solidFill>
              </a:rPr>
              <a:t>La force des équipes change au cours de la saison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ECE Paris · Groupe 02 · Bayesian Sports Analytics · 31 mars 2026</a:t>
            </a:r>
          </a:p>
        </p:txBody>
      </p:sp>
      <p:pic>
        <p:nvPicPr>
          <p:cNvPr id="6" name="Picture 5" descr="dynamic_attack_traject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417320"/>
            <a:ext cx="585216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5087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62828"/>
                </a:solidFill>
              </a:rPr>
              <a:t>Problème du modèle statique 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7474F"/>
                </a:solidFill>
              </a:rPr>
              <a:t>Il suppose qu'Arsenal en janvier
est aussi fort qu'en août.
C'est faux 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237E"/>
                </a:solidFill>
              </a:rPr>
              <a:t>Notre solution : Gaussian Random Walk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657600"/>
            <a:ext cx="5303520" cy="9144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749039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237E"/>
                </a:solidFill>
              </a:rPr>
              <a:t>attaque[équipe, t]  =  attaque[équipe, t-1]  +  bruit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75488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 b="1">
                <a:solidFill>
                  <a:srgbClr val="1A237E"/>
                </a:solidFill>
              </a:rPr>
              <a:t>▶  La force varie doucement semaine/semaine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1A237E"/>
                </a:solidFill>
              </a:rPr>
              <a:t>▶  Capture : blessures, forme, mercato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1A237E"/>
                </a:solidFill>
              </a:rPr>
              <a:t>▶  Pour prédire le prochain match :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37474F"/>
                </a:solidFill>
              </a:rPr>
              <a:t>      → On utilise la force du dernier matchweek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En résumé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ECE Paris · Groupe 02 · Bayesian Sports Analytics · 31 mars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3703320" cy="36576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508760"/>
            <a:ext cx="3703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Ce qu'on a construit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40280"/>
            <a:ext cx="352044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337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7474F"/>
                </a:solidFill>
              </a:rPr>
              <a:t>Modèle Poisson hiérarchique bayésien
Avantage domicile quantifié
Modèle dynamique (GRW)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399" y="1417320"/>
            <a:ext cx="3703320" cy="3657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399" y="1508760"/>
            <a:ext cx="3703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Ce qu'on a trouvé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39" y="2240280"/>
            <a:ext cx="352044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79" y="2331720"/>
            <a:ext cx="3337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7474F"/>
                </a:solidFill>
              </a:rPr>
              <a:t>P(δ &gt; 0) &gt; 99.5% — home advantage réel
Précision ~50% (≈ Bet365)
Value bets à EV positif identifiés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38" y="1417320"/>
            <a:ext cx="3703320" cy="36576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38" y="1508760"/>
            <a:ext cx="3703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Les limites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78" y="2240280"/>
            <a:ext cx="352044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18" y="2331720"/>
            <a:ext cx="3337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7474F"/>
                </a:solidFill>
              </a:rPr>
              <a:t>Indépendance dom/ext (hypothèse simpliste)
Pas de features contextuels (blessures...)
Test set petit : 20 matchs seulement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257800"/>
            <a:ext cx="11430000" cy="12344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349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7E"/>
                </a:solidFill>
              </a:rPr>
              <a:t>Prochaines étapes 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7474F"/>
                </a:solidFill>
              </a:rPr>
              <a:t>Correction Dixon-Coles  ·  Features contextuels (blessures, météo)  ·  Mise à jour en temps réel  ·  Extension multi-championnats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1371600" cy="9144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</a:rPr>
              <a:t>Merci 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49039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E3F2FD"/>
                </a:solidFill>
              </a:rPr>
              <a:t>Des questions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663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Cian Higgins (cian04)  ·  Jules Dantin (julesd13)  ·  Hugo Ferré (hugo-frr)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064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3F2FD"/>
                </a:solidFill>
              </a:rPr>
              <a:t>ECE Paris · IA Probabiliste 2026 · Sujet A.2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