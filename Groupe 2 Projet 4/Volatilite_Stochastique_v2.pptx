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3" r:id="rId7"/>
    <p:sldId id="264" r:id="rId8"/>
    <p:sldId id="265" r:id="rId9"/>
    <p:sldId id="267" r:id="rId10"/>
    <p:sldId id="268" r:id="rId11"/>
    <p:sldId id="269" r:id="rId12"/>
    <p:sldId id="271" r:id="rId13"/>
    <p:sldId id="272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4" d="100"/>
          <a:sy n="94" d="100"/>
        </p:scale>
        <p:origin x="33" y="6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828800" y="-1828800"/>
            <a:ext cx="7315200" cy="731520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229600" y="2743200"/>
            <a:ext cx="6400800" cy="6400800"/>
          </a:xfrm>
          <a:prstGeom prst="ellipse">
            <a:avLst/>
          </a:prstGeom>
          <a:solidFill>
            <a:srgbClr val="312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  <a:latin typeface="Calibri"/>
              </a:defRPr>
            </a:pPr>
            <a:r>
              <a:rPr dirty="0"/>
              <a:t>PROJET IA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Modelisation de Volatilite</a:t>
            </a:r>
            <a:br/>
            <a:r>
              <a:t>Stochastique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3B82F6"/>
                </a:solidFill>
                <a:latin typeface="Calibri"/>
              </a:defRPr>
            </a:pPr>
            <a:r>
              <a:t>Heston &amp; SABR avec Inference MCMC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4389120"/>
            <a:ext cx="3047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Arthur  |  Noam  |  Manon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ECE Paris ING4 | 2024-2025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Difficulte : 4/5 | Domaine : Probabilites &amp; Finance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Sommaire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51822" y="1782285"/>
            <a:ext cx="1645920" cy="3657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lang="fr-FR" dirty="0"/>
              <a:t>Manon</a:t>
            </a:r>
            <a:endParaRPr dirty="0"/>
          </a:p>
        </p:txBody>
      </p:sp>
      <p:sp>
        <p:nvSpPr>
          <p:cNvPr id="5" name="Oval 4"/>
          <p:cNvSpPr/>
          <p:nvPr/>
        </p:nvSpPr>
        <p:spPr>
          <a:xfrm>
            <a:off x="4123746" y="1243584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</a:defRPr>
            </a:pPr>
            <a:r>
              <a:rPr dirty="0"/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73318" y="13487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rPr dirty="0" err="1"/>
              <a:t>Contexte</a:t>
            </a:r>
            <a:r>
              <a:rPr dirty="0"/>
              <a:t> &amp; </a:t>
            </a:r>
            <a:r>
              <a:rPr dirty="0" err="1"/>
              <a:t>Objectifs</a:t>
            </a:r>
            <a:endParaRPr dirty="0"/>
          </a:p>
        </p:txBody>
      </p:sp>
      <p:sp>
        <p:nvSpPr>
          <p:cNvPr id="7" name="Oval 6"/>
          <p:cNvSpPr/>
          <p:nvPr/>
        </p:nvSpPr>
        <p:spPr>
          <a:xfrm>
            <a:off x="4123746" y="1693628"/>
            <a:ext cx="548640" cy="5486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73318" y="17145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rPr dirty="0"/>
              <a:t>Le </a:t>
            </a:r>
            <a:r>
              <a:rPr dirty="0" err="1"/>
              <a:t>Modele</a:t>
            </a:r>
            <a:r>
              <a:rPr dirty="0"/>
              <a:t> de Heston</a:t>
            </a:r>
          </a:p>
        </p:txBody>
      </p:sp>
      <p:sp>
        <p:nvSpPr>
          <p:cNvPr id="9" name="Oval 8"/>
          <p:cNvSpPr/>
          <p:nvPr/>
        </p:nvSpPr>
        <p:spPr>
          <a:xfrm>
            <a:off x="4123746" y="2105108"/>
            <a:ext cx="548640" cy="5486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73318" y="208523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rPr dirty="0" err="1"/>
              <a:t>Parametres</a:t>
            </a:r>
            <a:r>
              <a:rPr dirty="0"/>
              <a:t> de Heston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51822" y="3256158"/>
            <a:ext cx="1645920" cy="36576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lang="fr-FR" dirty="0" err="1"/>
              <a:t>Arhur</a:t>
            </a:r>
            <a:endParaRPr dirty="0"/>
          </a:p>
        </p:txBody>
      </p:sp>
      <p:sp>
        <p:nvSpPr>
          <p:cNvPr id="12" name="Oval 11"/>
          <p:cNvSpPr/>
          <p:nvPr/>
        </p:nvSpPr>
        <p:spPr>
          <a:xfrm>
            <a:off x="4123746" y="2769936"/>
            <a:ext cx="548640" cy="5486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</a:defRPr>
            </a:pPr>
            <a:r>
              <a:rPr dirty="0"/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73318" y="280681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rPr dirty="0"/>
              <a:t>Le </a:t>
            </a:r>
            <a:r>
              <a:rPr dirty="0" err="1"/>
              <a:t>Modele</a:t>
            </a:r>
            <a:r>
              <a:rPr dirty="0"/>
              <a:t> SABR</a:t>
            </a:r>
          </a:p>
        </p:txBody>
      </p:sp>
      <p:sp>
        <p:nvSpPr>
          <p:cNvPr id="14" name="Oval 13"/>
          <p:cNvSpPr/>
          <p:nvPr/>
        </p:nvSpPr>
        <p:spPr>
          <a:xfrm>
            <a:off x="4123746" y="3164718"/>
            <a:ext cx="548640" cy="5486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</a:defRPr>
            </a:pPr>
            <a:r>
              <a:rPr dirty="0"/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73318" y="31775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rPr dirty="0" err="1"/>
              <a:t>Qu'est-ce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le MCMC ?</a:t>
            </a:r>
          </a:p>
        </p:txBody>
      </p:sp>
      <p:sp>
        <p:nvSpPr>
          <p:cNvPr id="16" name="Oval 15"/>
          <p:cNvSpPr/>
          <p:nvPr/>
        </p:nvSpPr>
        <p:spPr>
          <a:xfrm>
            <a:off x="4123746" y="353246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73318" y="3580075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rPr dirty="0"/>
              <a:t>Metropolis-Hastings </a:t>
            </a:r>
            <a:r>
              <a:rPr dirty="0" err="1"/>
              <a:t>en</a:t>
            </a:r>
            <a:r>
              <a:rPr dirty="0"/>
              <a:t> pratique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51822" y="4837375"/>
            <a:ext cx="1645920" cy="36576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lang="fr-FR" dirty="0"/>
              <a:t>Noam</a:t>
            </a:r>
            <a:endParaRPr dirty="0"/>
          </a:p>
        </p:txBody>
      </p:sp>
      <p:sp>
        <p:nvSpPr>
          <p:cNvPr id="19" name="Oval 18"/>
          <p:cNvSpPr/>
          <p:nvPr/>
        </p:nvSpPr>
        <p:spPr>
          <a:xfrm>
            <a:off x="4123746" y="4197295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73318" y="42748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rPr dirty="0"/>
              <a:t>Diagnostics de convergence</a:t>
            </a:r>
          </a:p>
        </p:txBody>
      </p:sp>
      <p:sp>
        <p:nvSpPr>
          <p:cNvPr id="21" name="Oval 20"/>
          <p:cNvSpPr/>
          <p:nvPr/>
        </p:nvSpPr>
        <p:spPr>
          <a:xfrm>
            <a:off x="4123746" y="4608775"/>
            <a:ext cx="548640" cy="5486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3318" y="46863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rPr dirty="0" err="1"/>
              <a:t>Resultats</a:t>
            </a:r>
            <a:r>
              <a:rPr dirty="0"/>
              <a:t> &amp; Calibration</a:t>
            </a:r>
          </a:p>
        </p:txBody>
      </p:sp>
      <p:sp>
        <p:nvSpPr>
          <p:cNvPr id="23" name="Oval 22"/>
          <p:cNvSpPr/>
          <p:nvPr/>
        </p:nvSpPr>
        <p:spPr>
          <a:xfrm>
            <a:off x="4123746" y="5020255"/>
            <a:ext cx="548640" cy="5486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73318" y="5130579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rPr dirty="0"/>
              <a:t>Pricing </a:t>
            </a:r>
            <a:r>
              <a:rPr dirty="0" err="1"/>
              <a:t>d'options</a:t>
            </a:r>
            <a:r>
              <a:rPr dirty="0"/>
              <a:t> &amp; Demo</a:t>
            </a:r>
          </a:p>
        </p:txBody>
      </p:sp>
      <p:sp>
        <p:nvSpPr>
          <p:cNvPr id="25" name="Oval 24"/>
          <p:cNvSpPr/>
          <p:nvPr/>
        </p:nvSpPr>
        <p:spPr>
          <a:xfrm>
            <a:off x="4123746" y="5431735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73318" y="55778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058400" y="274320"/>
            <a:ext cx="1645920" cy="4114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lang="fr-FR" dirty="0"/>
              <a:t>Manon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1. Contexte &amp; Objectifs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731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  <a:latin typeface="Calibri"/>
              </a:defRPr>
            </a:pPr>
            <a:r>
              <a:t>Pourquoi modeliser la volatilite 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5029200" cy="201168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73152" cy="20116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  <a:latin typeface="Calibri"/>
              </a:defRPr>
            </a:pPr>
            <a:r>
              <a:t>Le probleme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Black-Scholes suppose une volatilite constante.</a:t>
            </a:r>
            <a:br/>
            <a:r>
              <a:t>En realite, la volatilite change tout le temps !</a:t>
            </a:r>
            <a:br/>
            <a:r>
              <a:t>On observe des clusters de haute volatilite</a:t>
            </a:r>
            <a:br/>
            <a:r>
              <a:t>(periodes de crise, annonces, etc.)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286000"/>
            <a:ext cx="5029200" cy="201168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0" y="2286000"/>
            <a:ext cx="73152" cy="20116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2377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C55E"/>
                </a:solidFill>
                <a:latin typeface="Calibri"/>
              </a:defRPr>
            </a:pPr>
            <a:r>
              <a:t>La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83464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Les modeles de volatilite stochastique !</a:t>
            </a:r>
            <a:br/>
            <a:r>
              <a:t>La volatilite suit sa propre equation aleatoire.</a:t>
            </a:r>
            <a:br/>
            <a:r>
              <a:t>On utilise le MCMC pour estimer</a:t>
            </a:r>
            <a:br/>
            <a:r>
              <a:t>les parametres du modele.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572000"/>
            <a:ext cx="10698480" cy="182880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4663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  <a:latin typeface="Calibri"/>
              </a:defRPr>
            </a:pPr>
            <a:r>
              <a:t>Objectifs du projet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2064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1) Implementer les modeles Heston et SABR</a:t>
            </a:r>
            <a:br/>
            <a:r>
              <a:t>2) Calibrer les parametres avec l'inference MCMC (Metropolis-Hastings)</a:t>
            </a:r>
            <a:br/>
            <a:r>
              <a:t>3) Comparer avec les formules fermees (Hagan)</a:t>
            </a:r>
            <a:br/>
            <a:r>
              <a:t>4) Pricer des options avec la volatilite calibree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058400" y="274320"/>
            <a:ext cx="1645920" cy="4114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lang="fr-FR" dirty="0"/>
              <a:t>Manon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2. Le Modele de Heston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73152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B5CF6"/>
                </a:solidFill>
                <a:latin typeface="Calibri"/>
              </a:defRPr>
            </a:pPr>
            <a:r>
              <a:t>L'idee simple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Au lieu de dire "la volatilite est fixe a 20%",</a:t>
            </a:r>
            <a:br/>
            <a:r>
              <a:t>on dit "la volatilite bouge elle aussi de facon aleatoire".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5029200" cy="256032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3108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Calibri"/>
              </a:defRPr>
            </a:pPr>
            <a:r>
              <a:t>Le prix de l'actif S(t)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566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onsolas"/>
              </a:defRPr>
            </a:pPr>
            <a:r>
              <a:t>dS = mu * S * dt + sqrt(v) * S * dW1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1148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mu = rendement moyen</a:t>
            </a:r>
            <a:br/>
            <a:r>
              <a:t>sqrt(v) = volatilite (variable !)</a:t>
            </a:r>
            <a:br/>
            <a:r>
              <a:t>dW1 = choc aleatoire sur le prix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017520"/>
            <a:ext cx="5029200" cy="256032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3108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Calibri"/>
              </a:defRPr>
            </a:pPr>
            <a:r>
              <a:t>La variance v(t)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566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onsolas"/>
              </a:defRPr>
            </a:pPr>
            <a:r>
              <a:t>dv = k(theta - v)dt + sigma*sqrt(v)*dW2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41148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k (kappa) = vitesse de retour a la moyenne</a:t>
            </a:r>
            <a:br/>
            <a:r>
              <a:t>theta = variance de long terme</a:t>
            </a:r>
            <a:br/>
            <a:r>
              <a:t>sigma = volatilite de la volatilite</a:t>
            </a:r>
            <a:br/>
            <a:r>
              <a:t>dW2 = choc aleatoire sur la variance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Les deux chocs dW1 et dW2 sont correles avec un coefficient rho (souvent negatif : quand le prix baisse, la vol monte).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058400" y="274320"/>
            <a:ext cx="1645920" cy="4114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lang="fr-FR" dirty="0"/>
              <a:t>Manon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2. Parametres de Heston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73152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60320" cy="347472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73152" cy="3474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554480" y="1737360"/>
            <a:ext cx="914400" cy="9144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k (kappa)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Vitesse de retour</a:t>
            </a:r>
            <a:br/>
            <a:r>
              <a:t>a la moyenne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Si k est grand, la volatilite</a:t>
            </a:r>
            <a:br/>
            <a:r>
              <a:t>revient vite a sa valeur normale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463040"/>
            <a:ext cx="2560320" cy="347472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66160" y="1463040"/>
            <a:ext cx="73152" cy="3474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389120" y="1737360"/>
            <a:ext cx="914400" cy="9144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theta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28346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Variance de</a:t>
            </a:r>
            <a:br/>
            <a:r>
              <a:t>long terme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347472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C'est le niveau "normal" de</a:t>
            </a:r>
            <a:br/>
            <a:r>
              <a:t>la volatilite sur le long terme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463040"/>
            <a:ext cx="2560320" cy="347472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0" y="1463040"/>
            <a:ext cx="73152" cy="3474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223760" y="1737360"/>
            <a:ext cx="914400" cy="9144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sigma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8346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Vol de vol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47472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A quel point la volatilite</a:t>
            </a:r>
            <a:br/>
            <a:r>
              <a:t>est elle-meme volatile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1463040"/>
            <a:ext cx="2560320" cy="347472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235440" y="1463040"/>
            <a:ext cx="73152" cy="3474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058400" y="1737360"/>
            <a:ext cx="914400" cy="9144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rho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28346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Correlation</a:t>
            </a:r>
            <a:br/>
            <a:r>
              <a:t>prix/vol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347472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Souvent negatif : quand le</a:t>
            </a:r>
            <a:br/>
            <a:r>
              <a:t>prix chute, la vol explose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212080"/>
            <a:ext cx="10698480" cy="109728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584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Condition de Feller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Si 2*k*theta &gt; sigma^2, alors la variance ne peut jamais devenir negative. C'est la condition de stabilite du modele.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058400" y="274320"/>
            <a:ext cx="1645920" cy="41148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lang="fr-FR" dirty="0"/>
              <a:t>Arthur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3. Le Modele SABR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731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B6D4"/>
                </a:solidFill>
                <a:latin typeface="Calibri"/>
              </a:defRPr>
            </a:pPr>
            <a:r>
              <a:t>Stochastic Alpha Beta Rho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Modele tres utilise en finance pour modeliser le smile de volatilite.</a:t>
            </a:r>
            <a:br/>
            <a:r>
              <a:t>Avantage : il existe une formule fermee (Hagan 2002) pour calculer la vol implicite.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34640"/>
            <a:ext cx="5029200" cy="164592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  <a:latin typeface="Calibri"/>
              </a:defRPr>
            </a:pPr>
            <a:r>
              <a:t>Equations du modele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383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onsolas"/>
              </a:defRPr>
            </a:pPr>
            <a:r>
              <a:t>dF = alpha * F^beta * dW1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840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onsolas"/>
              </a:defRPr>
            </a:pPr>
            <a:r>
              <a:t>dalpha = nu * alpha * dW2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834640"/>
            <a:ext cx="5029200" cy="164592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2926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  <a:latin typeface="Calibri"/>
              </a:defRPr>
            </a:pPr>
            <a:r>
              <a:t>Parametres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38328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alpha = volatilite initiale</a:t>
            </a:r>
            <a:br/>
            <a:r>
              <a:t>beta = elasticite (entre 0 et 1)</a:t>
            </a:r>
            <a:br/>
            <a:r>
              <a:t>nu = vol de vol</a:t>
            </a:r>
            <a:br/>
            <a:r>
              <a:t>rho = correlation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54880"/>
            <a:ext cx="10698480" cy="164592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4846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Calibri"/>
              </a:defRPr>
            </a:pPr>
            <a:r>
              <a:t>Le smile de volatilite, c'est quoi 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30352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Quand on trace la volatilite implicite en fonction du strike, on obtient une courbe en forme de sourire.</a:t>
            </a:r>
            <a:br/>
            <a:r>
              <a:t>Les options loin du prix actuel (OTM) ont une vol implicite plus elevee que les options ATM.</a:t>
            </a:r>
            <a:br/>
            <a:r>
              <a:t>Le modele SABR permet de reproduire cette forme naturellement.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058400" y="274320"/>
            <a:ext cx="1645920" cy="41148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lang="fr-FR" dirty="0"/>
              <a:t>Arthur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4. Qu'est-ce que le MCMC 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73152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C55E"/>
                </a:solidFill>
                <a:latin typeface="Calibri"/>
              </a:defRPr>
            </a:pPr>
            <a:r>
              <a:t>Monte Carlo par Chaines de Markov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10698480" cy="182880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73152" cy="1828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C55E"/>
                </a:solidFill>
                <a:latin typeface="Calibri"/>
              </a:defRPr>
            </a:pPr>
            <a:r>
              <a:t>L'analogie simple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5176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Imagine que tu cherches le sommet d'une montagne dans le brouillard.</a:t>
            </a:r>
            <a:br/>
            <a:r>
              <a:t>Tu ne vois rien, mais tu peux tester : "si je fais un pas a droite, est-ce que ca monte ?"</a:t>
            </a:r>
            <a:br/>
            <a:r>
              <a:t>Si oui, tu avances. Si non, tu restes ou tu recules.</a:t>
            </a:r>
            <a:br/>
            <a:r>
              <a:t>Apres des milliers de pas, tu te retrouves naturellement pres du sommet.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3474720" cy="228600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194560" y="438912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292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B82F6"/>
                </a:solidFill>
                <a:latin typeface="Calibri"/>
              </a:defRPr>
            </a:pPr>
            <a:r>
              <a:t>Proposer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39496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On propose une nouvelle</a:t>
            </a:r>
            <a:br/>
            <a:r>
              <a:t>valeur pour les parametres</a:t>
            </a:r>
            <a:br/>
            <a:r>
              <a:t>(au hasard, pres de la</a:t>
            </a:r>
            <a:br/>
            <a:r>
              <a:t>valeur actuelle)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59" y="4206240"/>
            <a:ext cx="3474720" cy="228600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943600" y="4389120"/>
            <a:ext cx="548640" cy="5486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50292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8B5CF6"/>
                </a:solidFill>
                <a:latin typeface="Calibri"/>
              </a:defRPr>
            </a:pPr>
            <a:r>
              <a:t>Evaluer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539496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On calcule si cette nouvelle</a:t>
            </a:r>
            <a:br/>
            <a:r>
              <a:t>valeur explique mieux les</a:t>
            </a:r>
            <a:br/>
            <a:r>
              <a:t>donnees que l'ancienne</a:t>
            </a:r>
            <a:br/>
            <a:r>
              <a:t>(via la vraisemblance)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4206240"/>
            <a:ext cx="3474720" cy="228600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692640" y="4389120"/>
            <a:ext cx="548640" cy="5486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50292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2C55E"/>
                </a:solidFill>
                <a:latin typeface="Calibri"/>
              </a:defRPr>
            </a:pPr>
            <a:r>
              <a:t>Accepter/Rejeter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539496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Si c'est mieux, on accepte.</a:t>
            </a:r>
            <a:br/>
            <a:r>
              <a:t>Si c'est pire, on accepte</a:t>
            </a:r>
            <a:br/>
            <a:r>
              <a:t>quand meme parfois</a:t>
            </a:r>
            <a:br/>
            <a:r>
              <a:t>(pour explorer)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058400" y="274320"/>
            <a:ext cx="1645920" cy="41148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lang="fr-FR" dirty="0"/>
              <a:t>Arthur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5. Metropolis-Hastings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731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9E0B"/>
                </a:solidFill>
                <a:latin typeface="Calibri"/>
              </a:defRPr>
            </a:pPr>
            <a:r>
              <a:t>L'algorithme en pratique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01168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057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Choisir un point de depart pour les parametres (k, theta, sigma...)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51460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560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Proposer de nouvelles valeurs : theta_new = theta + bruit aleatoire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0175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063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Calculer le ratio d'acceptation : r = P(donnees | theta_new) / P(donnees | theta_old)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52044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566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Si r &gt; 1 : accepter (c'est mieux !)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02336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069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Si r &lt; 1 : accepter avec probabilite r (sinon garder l'ancien)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526280"/>
            <a:ext cx="548640" cy="5486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Repeter des milliers de fois (ex: 5000 iterations)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5029200"/>
            <a:ext cx="548640" cy="5486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074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Jeter les premieres iterations (burn-in) et garder le reste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669280"/>
            <a:ext cx="10698480" cy="82296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1520" y="5669280"/>
            <a:ext cx="73152" cy="8229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57607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Calibri"/>
              </a:defRPr>
            </a:pPr>
            <a:r>
              <a:t>Resultat : l'histogramme des valeurs acceptees forme la distribution posterieure des parametres 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058400" y="274320"/>
            <a:ext cx="1645920" cy="41148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lang="fr-FR" dirty="0"/>
              <a:t>Noam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6. Diagnostics de convergence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731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  <a:latin typeface="Calibri"/>
              </a:defRPr>
            </a:pPr>
            <a:r>
              <a:t>Comment savoir si le MCMC a bien fonctionne 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474720" cy="365760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73152" cy="3657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B82F6"/>
                </a:solidFill>
                <a:latin typeface="Calibri"/>
              </a:defRPr>
            </a:pPr>
            <a:r>
              <a:t>R-hat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Gelman-Rubin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0896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On lance 2 chaines</a:t>
            </a:r>
            <a:br/>
            <a:r>
              <a:t>independantes et on compare.</a:t>
            </a:r>
            <a:br/>
            <a:r>
              <a:t>Si R-hat &lt; 1.1 : les chaines</a:t>
            </a:r>
            <a:br/>
            <a:r>
              <a:t>ont converge vers la meme</a:t>
            </a:r>
            <a:br/>
            <a:r>
              <a:t>distribution.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45920" y="4937760"/>
            <a:ext cx="1645920" cy="4572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Cible : &lt; 1.1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2011680"/>
            <a:ext cx="3474720" cy="365760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80559" y="2011680"/>
            <a:ext cx="73152" cy="3657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63440" y="21945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8B5CF6"/>
                </a:solidFill>
                <a:latin typeface="Calibri"/>
              </a:defRPr>
            </a:pPr>
            <a:r>
              <a:t>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651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Effective Sample Size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10896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Le nombre d'echantillons</a:t>
            </a:r>
            <a:br/>
            <a:r>
              <a:t>"vraiment independants".</a:t>
            </a:r>
            <a:br/>
            <a:r>
              <a:t>Plus c'est grand, mieux c'est.</a:t>
            </a:r>
            <a:br/>
            <a:r>
              <a:t>Objectif : ESS &gt; 100 pour</a:t>
            </a:r>
            <a:br/>
            <a:r>
              <a:t>des estimations fiables.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94959" y="4937760"/>
            <a:ext cx="1645920" cy="4572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Cible : &gt; 100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2011680"/>
            <a:ext cx="3474720" cy="365760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0" y="2011680"/>
            <a:ext cx="73152" cy="3657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80" y="21945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2C55E"/>
                </a:solidFill>
                <a:latin typeface="Calibri"/>
              </a:defRPr>
            </a:pPr>
            <a:r>
              <a:t>Trace Plot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651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Visualisation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10896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Le graphe de la chaine</a:t>
            </a:r>
            <a:br/>
            <a:r>
              <a:t>doit ressembler a un</a:t>
            </a:r>
            <a:br/>
            <a:r>
              <a:t>"fuzzy caterpillar" :</a:t>
            </a:r>
            <a:br/>
            <a:r>
              <a:t>oscillant autour d'une</a:t>
            </a:r>
            <a:br/>
            <a:r>
              <a:t>valeur stable.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0" y="4937760"/>
            <a:ext cx="1645920" cy="4572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Cible : Stable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058400" y="274320"/>
            <a:ext cx="1645920" cy="41148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lang="fr-FR" dirty="0"/>
              <a:t>Noam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7. Resultats &amp; Calibration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73152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  <a:latin typeface="Calibri"/>
              </a:defRPr>
            </a:pPr>
            <a:r>
              <a:t>Comparaison : valeurs vraies vs estimations MCMC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2103120"/>
            <a:ext cx="1828800" cy="4572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214883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Parametre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1920" y="2103120"/>
            <a:ext cx="2286000" cy="4572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0" y="214883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Vraie valeur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103120"/>
            <a:ext cx="2286000" cy="4572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214883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Estimation MCMC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2103120"/>
            <a:ext cx="2286000" cy="4572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0" y="214883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Erreur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88720" y="2651760"/>
            <a:ext cx="1828800" cy="45720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71600" y="269747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kappa (k)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31920" y="2651760"/>
            <a:ext cx="2286000" cy="45720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14800" y="269747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2.00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651760"/>
            <a:ext cx="2286000" cy="45720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269747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2.15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03920" y="2651760"/>
            <a:ext cx="2286000" cy="45720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0" y="269747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2C55E"/>
                </a:solidFill>
                <a:latin typeface="Calibri"/>
              </a:defRPr>
            </a:pPr>
            <a:r>
              <a:t>7.5%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88720" y="3200400"/>
            <a:ext cx="1828800" cy="457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371600" y="3246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theta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931920" y="3200400"/>
            <a:ext cx="2286000" cy="457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14800" y="3246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0.04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200400"/>
            <a:ext cx="2286000" cy="457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0" y="3246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0.038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03920" y="3200400"/>
            <a:ext cx="2286000" cy="457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86800" y="3246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2C55E"/>
                </a:solidFill>
                <a:latin typeface="Calibri"/>
              </a:defRPr>
            </a:pPr>
            <a:r>
              <a:t>5.0%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88720" y="3749039"/>
            <a:ext cx="1828800" cy="45720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371600" y="37947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sigma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931920" y="3749039"/>
            <a:ext cx="2286000" cy="45720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114800" y="37947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0.30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3749039"/>
            <a:ext cx="2286000" cy="45720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0" y="37947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0.31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03920" y="3749039"/>
            <a:ext cx="2286000" cy="45720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686800" y="37947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2C55E"/>
                </a:solidFill>
                <a:latin typeface="Calibri"/>
              </a:defRPr>
            </a:pPr>
            <a:r>
              <a:t>3.3%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88720" y="4297679"/>
            <a:ext cx="1828800" cy="457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371600" y="434339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rho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931920" y="4297679"/>
            <a:ext cx="2286000" cy="457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114800" y="434339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-0.70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0" y="4297679"/>
            <a:ext cx="2286000" cy="457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00800" y="434339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-0.68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503920" y="4297679"/>
            <a:ext cx="2286000" cy="457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686800" y="434339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2C55E"/>
                </a:solidFill>
                <a:latin typeface="Calibri"/>
              </a:defRPr>
            </a:pPr>
            <a:r>
              <a:t>2.9%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1520" y="4846320"/>
            <a:ext cx="5029200" cy="164592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731520" y="4846320"/>
            <a:ext cx="73152" cy="1645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05840" y="4937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  <a:latin typeface="Calibri"/>
              </a:defRPr>
            </a:pPr>
            <a:r>
              <a:t>Points cles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5840" y="539496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Le MCMC retrouve les parametres avec</a:t>
            </a:r>
            <a:br/>
            <a:r>
              <a:t>une erreur &lt; 8% sur les donnees synthetiques.</a:t>
            </a:r>
            <a:br/>
            <a:r>
              <a:t>Les diagnostics R-hat sont tous &lt; 1.05.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00800" y="4846320"/>
            <a:ext cx="5029200" cy="164592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400800" y="4846320"/>
            <a:ext cx="73152" cy="1645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675120" y="4937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Formule fermee vs MCMC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75120" y="539496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La formule de Hagan (SABR) est rapide</a:t>
            </a:r>
            <a:br/>
            <a:r>
              <a:t>mais approximative pour les strikes extremes.</a:t>
            </a:r>
            <a:br/>
            <a:r>
              <a:t>Le MCMC est plus lent mais plus precis.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058400" y="274320"/>
            <a:ext cx="1645920" cy="41148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lang="fr-FR" dirty="0"/>
              <a:t>Noam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8. Pricing d'options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731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Une fois les parametres calibres, on peut pricer des options</a:t>
            </a:r>
            <a:br/>
            <a:r>
              <a:t>en utilisant la volatilite du modele au lieu d'une vol constante.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2560320" cy="256032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554480" y="2560320"/>
            <a:ext cx="914400" cy="9144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661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B82F6"/>
                </a:solidFill>
                <a:latin typeface="Calibri"/>
              </a:defRPr>
            </a:pPr>
            <a:r>
              <a:t>Delta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Sensibilite du</a:t>
            </a:r>
            <a:br/>
            <a:r>
              <a:t>prix de l'option</a:t>
            </a:r>
            <a:br/>
            <a:r>
              <a:t>au sous-jacent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720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0.52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2377440"/>
            <a:ext cx="2560320" cy="256032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389120" y="2560320"/>
            <a:ext cx="914400" cy="9144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35661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8B5CF6"/>
                </a:solidFill>
                <a:latin typeface="Calibri"/>
              </a:defRPr>
            </a:pPr>
            <a:r>
              <a:t>Gamma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39319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Acceleration</a:t>
            </a:r>
            <a:br/>
            <a:r>
              <a:t>du Delta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45720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0.035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377440"/>
            <a:ext cx="2560320" cy="256032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223760" y="2560320"/>
            <a:ext cx="914400" cy="9144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5661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6B6D4"/>
                </a:solidFill>
                <a:latin typeface="Calibri"/>
              </a:defRPr>
            </a:pPr>
            <a:r>
              <a:t>Vega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9319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Sensibilite a</a:t>
            </a:r>
            <a:br/>
            <a:r>
              <a:t>la volatilite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5720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18.5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2377440"/>
            <a:ext cx="2560320" cy="256032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058400" y="2560320"/>
            <a:ext cx="914400" cy="9144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35661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9E0B"/>
                </a:solidFill>
                <a:latin typeface="Calibri"/>
              </a:defRPr>
            </a:pPr>
            <a:r>
              <a:t>Theta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39319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Perte de valeur</a:t>
            </a:r>
            <a:br/>
            <a:r>
              <a:t>avec le temps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45720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-0.045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212080"/>
            <a:ext cx="10698480" cy="118872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584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  <a:latin typeface="Calibri"/>
              </a:defRPr>
            </a:pPr>
            <a:r>
              <a:t>Avantage de la vol stochastique pour le pricing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669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Avec un modele de vol stochastique, on capture le smile de volatilite et on obtient des prix d'options</a:t>
            </a:r>
            <a:br/>
            <a:r>
              <a:t>plus realistes, surtout pour les options OTM (loin du prix actuel) et les maturites longues.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144000" y="-914400"/>
            <a:ext cx="5486400" cy="548640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10.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731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292608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73152" cy="29260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C55E"/>
                </a:solidFill>
                <a:latin typeface="Calibri"/>
              </a:defRPr>
            </a:pPr>
            <a:r>
              <a:t>Ce qu'on retient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01168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La volatilite n'est PAS constante</a:t>
            </a:r>
            <a:br/>
            <a:br/>
            <a:r>
              <a:t>Heston et SABR capturent cette realite</a:t>
            </a:r>
            <a:br/>
            <a:br/>
            <a:r>
              <a:t>Le MCMC permet d'estimer les parametres</a:t>
            </a:r>
            <a:br/>
            <a:r>
              <a:t>sans formule analytique</a:t>
            </a:r>
            <a:br/>
            <a:br/>
            <a:r>
              <a:t>Les diagnostics (R-hat, ESS) garantissent</a:t>
            </a:r>
            <a:br/>
            <a:r>
              <a:t>la fiabilite des resultats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463040"/>
            <a:ext cx="5029200" cy="292608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0" y="1463040"/>
            <a:ext cx="73152" cy="2926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  <a:latin typeface="Calibri"/>
              </a:defRPr>
            </a:pPr>
            <a:r>
              <a:t>MCMC vs Formule fermee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01168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Formule fermee (Hagan) :</a:t>
            </a:r>
            <a:br/>
            <a:r>
              <a:t>  + Rapide</a:t>
            </a:r>
            <a:br/>
            <a:r>
              <a:t>  - Approximative aux extremes</a:t>
            </a:r>
            <a:br/>
            <a:br/>
            <a:r>
              <a:t>MCMC (Metropolis-Hastings) :</a:t>
            </a:r>
            <a:br/>
            <a:r>
              <a:t>  + Flexible, precis</a:t>
            </a:r>
            <a:br/>
            <a:r>
              <a:t>  + Donne la distribution complete</a:t>
            </a:r>
            <a:br/>
            <a:r>
              <a:t>  - Plus lent (milliers d'iterations)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663440"/>
            <a:ext cx="10698480" cy="182880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4754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21208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Heston S. (1993) - A Closed-Form Solution for Options with Stochastic Volatility</a:t>
            </a:r>
            <a:br/>
            <a:r>
              <a:t>Hagan P. et al. (2002) - Managing Smile Risk (formule SABR)</a:t>
            </a:r>
            <a:br/>
            <a:r>
              <a:t>Gelman A. et al. (2013) - Bayesian Data Analysis</a:t>
            </a:r>
            <a:br/>
            <a:r>
              <a:t>NumPyro Documentation - Stochastic Volatility Example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229600" y="2743200"/>
            <a:ext cx="5486400" cy="5486400"/>
          </a:xfrm>
          <a:prstGeom prst="ellipse">
            <a:avLst/>
          </a:prstGeom>
          <a:solidFill>
            <a:srgbClr val="312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Calibri"/>
              </a:defRPr>
            </a:pPr>
            <a:r>
              <a:t>Merci 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3B82F6"/>
                </a:solidFill>
                <a:latin typeface="Calibri"/>
              </a:defRPr>
            </a:pPr>
            <a:r>
              <a:t>Des questions 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4114800"/>
            <a:ext cx="3047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Arthur  |  Noam  |  Manon  -  ECE Paris ING4 2024-2025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1396</Words>
  <Application>Microsoft Office PowerPoint</Application>
  <PresentationFormat>Grand écran</PresentationFormat>
  <Paragraphs>182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Arthur Louis</cp:lastModifiedBy>
  <cp:revision>3</cp:revision>
  <dcterms:created xsi:type="dcterms:W3CDTF">2013-01-27T09:14:16Z</dcterms:created>
  <dcterms:modified xsi:type="dcterms:W3CDTF">2026-03-31T07:39:37Z</dcterms:modified>
  <cp:category/>
</cp:coreProperties>
</file>