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667EEA"/>
          </a:solidFill>
          <a:ln w="12700">
            <a:solidFill>
              <a:srgbClr val="667EE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979408" y="0"/>
            <a:ext cx="164592" cy="5143500"/>
          </a:xfrm>
          <a:prstGeom prst="rect">
            <a:avLst/>
          </a:prstGeom>
          <a:solidFill>
            <a:srgbClr val="764BA2"/>
          </a:solidFill>
          <a:ln w="12700">
            <a:solidFill>
              <a:srgbClr val="764BA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7280" y="1005840"/>
            <a:ext cx="6949440" cy="3108960"/>
          </a:xfrm>
          <a:prstGeom prst="rect">
            <a:avLst/>
          </a:prstGeom>
          <a:solidFill>
            <a:srgbClr val="161B22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97280" y="1005840"/>
            <a:ext cx="91440" cy="3108960"/>
          </a:xfrm>
          <a:prstGeom prst="rect">
            <a:avLst/>
          </a:prstGeom>
          <a:solidFill>
            <a:srgbClr val="667EEA"/>
          </a:solidFill>
          <a:ln w="12700">
            <a:solidFill>
              <a:srgbClr val="667E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71600" y="128016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667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TrueSkill Matchmaking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1371600" y="224028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Système de classement Bayésien compétitif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1371600" y="2880360"/>
            <a:ext cx="548640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371600" y="301752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667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ECE Paris</a:t>
            </a:r>
            <a:pPr algn="l"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ING4  ·  Groupe 02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1371600" y="3611880"/>
            <a:ext cx="1325880" cy="256032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371600" y="3611880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80360" y="3611880"/>
            <a:ext cx="1325880" cy="256032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880360" y="3611880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TrueSkill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389120" y="3611880"/>
            <a:ext cx="1325880" cy="256032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89120" y="3611880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Bayésien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897880" y="3611880"/>
            <a:ext cx="1325880" cy="256032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897880" y="3611880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667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ELO ne suffit pas ?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841248"/>
            <a:ext cx="1097280" cy="36576"/>
          </a:xfrm>
          <a:prstGeom prst="rect">
            <a:avLst/>
          </a:prstGeom>
          <a:solidFill>
            <a:srgbClr val="764BA2"/>
          </a:solidFill>
          <a:ln w="12700">
            <a:solidFill>
              <a:srgbClr val="764BA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1005840"/>
            <a:ext cx="3931920" cy="3749040"/>
          </a:xfrm>
          <a:prstGeom prst="rect">
            <a:avLst/>
          </a:prstGeom>
          <a:solidFill>
            <a:srgbClr val="1A0A0A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005840"/>
            <a:ext cx="3931920" cy="457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9728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ELO  (système classique)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02920" y="1600200"/>
            <a:ext cx="35661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seul chiffre  (ex: 1200)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Aucune mesure d'incertitude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Mise à jour fixe  K = 32  par match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Convergence lente vers le vrai niveau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 conçu pour les équipes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892040" y="1005840"/>
            <a:ext cx="3931920" cy="3749040"/>
          </a:xfrm>
          <a:prstGeom prst="rect">
            <a:avLst/>
          </a:prstGeom>
          <a:solidFill>
            <a:srgbClr val="0A1A0E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892040" y="1005840"/>
            <a:ext cx="3931920" cy="4572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0" y="109728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TrueSkill  (notre solution)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029200" y="1600200"/>
            <a:ext cx="35661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Deux paramètres : µ (niveau) + σ (incertitude)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Modélise la confiance dans l'estimation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Mise à jour proportionnelle à σ²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Convergence 3-4× plus rapide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Équipes et matchs nuls natifs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315968" y="2468880"/>
            <a:ext cx="502920" cy="274320"/>
          </a:xfrm>
          <a:prstGeom prst="rect">
            <a:avLst/>
          </a:prstGeom>
          <a:solidFill>
            <a:srgbClr val="667EEA"/>
          </a:solidFill>
          <a:ln w="12700">
            <a:solidFill>
              <a:srgbClr val="667E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15968" y="246888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667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TrueSkill : La Gaussienne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841248"/>
            <a:ext cx="1097280" cy="36576"/>
          </a:xfrm>
          <a:prstGeom prst="rect">
            <a:avLst/>
          </a:prstGeom>
          <a:solidFill>
            <a:srgbClr val="764BA2"/>
          </a:solidFill>
          <a:ln w="12700">
            <a:solidFill>
              <a:srgbClr val="764BA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1005840"/>
            <a:ext cx="4160520" cy="3749040"/>
          </a:xfrm>
          <a:prstGeom prst="rect">
            <a:avLst/>
          </a:prstGeom>
          <a:solidFill>
            <a:srgbClr val="161B22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0972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joueur = une courbe en cloche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600200"/>
            <a:ext cx="54864" cy="502920"/>
          </a:xfrm>
          <a:prstGeom prst="rect">
            <a:avLst/>
          </a:prstGeom>
          <a:solidFill>
            <a:srgbClr val="667EEA"/>
          </a:solidFill>
          <a:ln w="12700">
            <a:solidFill>
              <a:srgbClr val="667E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60020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667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µ  (mu)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0080" y="1856232"/>
            <a:ext cx="3566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Centre de la courbe = estimation du niveau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377440"/>
            <a:ext cx="54864" cy="50292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37744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  (sigma)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40080" y="2633472"/>
            <a:ext cx="3566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Largeur de la courbe = incertitude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3246120"/>
            <a:ext cx="3749040" cy="1280160"/>
          </a:xfrm>
          <a:prstGeom prst="rect">
            <a:avLst/>
          </a:prstGeom>
          <a:solidFill>
            <a:srgbClr val="0A0F1E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3246120"/>
            <a:ext cx="3749040" cy="36576"/>
          </a:xfrm>
          <a:prstGeom prst="rect">
            <a:avLst/>
          </a:prstGeom>
          <a:solidFill>
            <a:srgbClr val="667EEA"/>
          </a:solidFill>
          <a:ln w="12700">
            <a:solidFill>
              <a:srgbClr val="667EE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331012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667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Règle des 3 sigma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94360" y="36118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µ ± 3σ  contient  99.7%  des valeurs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94360" y="39319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AB3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Score conservateur  =  µ − 3σ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663440" y="1005840"/>
            <a:ext cx="4160520" cy="3749040"/>
          </a:xfrm>
          <a:prstGeom prst="rect">
            <a:avLst/>
          </a:prstGeom>
          <a:solidFill>
            <a:srgbClr val="161B22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800600" y="109728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Exemple concret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800600" y="1554480"/>
            <a:ext cx="3840480" cy="11887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00600" y="1554480"/>
            <a:ext cx="64008" cy="118872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37760" y="16002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Joueur A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937760" y="190195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µ = 35,  σ = 2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937760" y="2212848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= 35 − 6 = 29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800600" y="2926080"/>
            <a:ext cx="3840480" cy="11887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800600" y="2926080"/>
            <a:ext cx="64008" cy="118872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37760" y="29718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Joueur B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937760" y="327355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µ = 30,  σ = 1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937760" y="3584448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= 30 − 3 = 27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800600" y="438912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EAB3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B est classé DEVANT A malgré un µ plus faible,</a:t>
            </a:r>
            <a:endParaRPr lang="en-US" sz="1200" dirty="0"/>
          </a:p>
          <a:p>
            <a:pPr algn="l" indent="0" marL="0">
              <a:buNone/>
            </a:pPr>
            <a:r>
              <a:rPr lang="en-US" sz="1200" i="1" dirty="0">
                <a:solidFill>
                  <a:srgbClr val="EAB3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car B est plus certain !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667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— 8 modules Python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841248"/>
            <a:ext cx="1097280" cy="36576"/>
          </a:xfrm>
          <a:prstGeom prst="rect">
            <a:avLst/>
          </a:prstGeom>
          <a:solidFill>
            <a:srgbClr val="764BA2"/>
          </a:solidFill>
          <a:ln w="12700">
            <a:solidFill>
              <a:srgbClr val="764BA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960120"/>
            <a:ext cx="2743200" cy="3429000"/>
          </a:xfrm>
          <a:prstGeom prst="rect">
            <a:avLst/>
          </a:prstGeom>
          <a:solidFill>
            <a:srgbClr val="161B22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960120"/>
            <a:ext cx="2743200" cy="36576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024128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Niveau Minimum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29768" y="1481328"/>
            <a:ext cx="2523744" cy="566928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29768" y="1481328"/>
            <a:ext cx="54864" cy="56692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517904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simulation.py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1773936"/>
            <a:ext cx="2331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Joueurs + matchs 1v1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29768" y="2176272"/>
            <a:ext cx="2523744" cy="566928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29768" y="2176272"/>
            <a:ext cx="54864" cy="56692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2212848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matchmaking.py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48640" y="2468880"/>
            <a:ext cx="2331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Probabilités de victoire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29768" y="2871216"/>
            <a:ext cx="2523744" cy="566928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29768" y="2871216"/>
            <a:ext cx="54864" cy="56692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2907792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visualisation.py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48640" y="3163824"/>
            <a:ext cx="2331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Graphes PNG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29768" y="3566160"/>
            <a:ext cx="2523744" cy="566928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29768" y="3566160"/>
            <a:ext cx="54864" cy="56692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3602736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main.py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48640" y="3858768"/>
            <a:ext cx="2331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Orchestrateur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291840" y="960120"/>
            <a:ext cx="2743200" cy="2057400"/>
          </a:xfrm>
          <a:prstGeom prst="rect">
            <a:avLst/>
          </a:prstGeom>
          <a:solidFill>
            <a:srgbClr val="161B22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291840" y="960120"/>
            <a:ext cx="2743200" cy="3657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383280" y="1024128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Niveau Bon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3401568" y="1481328"/>
            <a:ext cx="2523744" cy="566928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401568" y="1481328"/>
            <a:ext cx="54864" cy="56692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520440" y="1517904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elo.py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520440" y="1773936"/>
            <a:ext cx="2331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Comparaison ELO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401568" y="2176272"/>
            <a:ext cx="2523744" cy="566928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401568" y="2176272"/>
            <a:ext cx="54864" cy="56692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520440" y="2212848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equipes.py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3520440" y="2468880"/>
            <a:ext cx="2331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Matchs 2v2 + nuls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263640" y="960120"/>
            <a:ext cx="2743200" cy="2743200"/>
          </a:xfrm>
          <a:prstGeom prst="rect">
            <a:avLst/>
          </a:prstGeom>
          <a:solidFill>
            <a:srgbClr val="161B22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263640" y="960120"/>
            <a:ext cx="2743200" cy="36576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355080" y="1024128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Niveau Excellent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6373368" y="1481328"/>
            <a:ext cx="2523744" cy="566928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6373368" y="1481328"/>
            <a:ext cx="54864" cy="56692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492240" y="1517904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dynamique.py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6492240" y="1773936"/>
            <a:ext cx="2331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Saisons + decay σ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6373368" y="2176272"/>
            <a:ext cx="2523744" cy="566928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6373368" y="2176272"/>
            <a:ext cx="54864" cy="56692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492240" y="2212848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trueskill2.py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6492240" y="2468880"/>
            <a:ext cx="2331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composite TS2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6373368" y="2871216"/>
            <a:ext cx="2523744" cy="566928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6373368" y="2871216"/>
            <a:ext cx="54864" cy="56692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492240" y="2907792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dashboard.py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6492240" y="3163824"/>
            <a:ext cx="2331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Streamlit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667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Niveau Minimum — Simulation 1v1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841248"/>
            <a:ext cx="1097280" cy="36576"/>
          </a:xfrm>
          <a:prstGeom prst="rect">
            <a:avLst/>
          </a:prstGeom>
          <a:solidFill>
            <a:srgbClr val="764BA2"/>
          </a:solidFill>
          <a:ln w="12700">
            <a:solidFill>
              <a:srgbClr val="764BA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0"/>
            <a:ext cx="1463040" cy="292608"/>
          </a:xfrm>
          <a:prstGeom prst="roundRect">
            <a:avLst>
              <a:gd name="adj" fmla="val 46875"/>
            </a:avLst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 Minimum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051560"/>
            <a:ext cx="1828800" cy="685800"/>
          </a:xfrm>
          <a:prstGeom prst="rect">
            <a:avLst/>
          </a:prstGeom>
          <a:solidFill>
            <a:srgbClr val="1E3A5F"/>
          </a:solidFill>
          <a:ln w="19050">
            <a:solidFill>
              <a:srgbClr val="667EE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65760" y="1069848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Créer 10 joueurs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5760" y="1472184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µ=25, σ=8.33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194560" y="1394460"/>
            <a:ext cx="347472" cy="0"/>
          </a:xfrm>
          <a:prstGeom prst="line">
            <a:avLst/>
          </a:prstGeom>
          <a:noFill/>
          <a:ln w="25400">
            <a:solidFill>
              <a:srgbClr val="667EE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560320" y="1051560"/>
            <a:ext cx="1828800" cy="685800"/>
          </a:xfrm>
          <a:prstGeom prst="rect">
            <a:avLst/>
          </a:prstGeom>
          <a:solidFill>
            <a:srgbClr val="1E3A5F"/>
          </a:solidFill>
          <a:ln w="19050">
            <a:solidFill>
              <a:srgbClr val="667EE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560320" y="1069848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matchs 1v1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560320" y="1472184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aléatoires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389120" y="1394460"/>
            <a:ext cx="347472" cy="0"/>
          </a:xfrm>
          <a:prstGeom prst="line">
            <a:avLst/>
          </a:prstGeom>
          <a:noFill/>
          <a:ln w="25400">
            <a:solidFill>
              <a:srgbClr val="667EE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54880" y="1051560"/>
            <a:ext cx="1828800" cy="685800"/>
          </a:xfrm>
          <a:prstGeom prst="rect">
            <a:avLst/>
          </a:prstGeom>
          <a:solidFill>
            <a:srgbClr val="1E3A5F"/>
          </a:solidFill>
          <a:ln w="19050">
            <a:solidFill>
              <a:srgbClr val="667EE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754880" y="1069848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Mise à jour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TrueSkill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754880" y="1472184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µ, σ recalculés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583680" y="1394460"/>
            <a:ext cx="347472" cy="0"/>
          </a:xfrm>
          <a:prstGeom prst="line">
            <a:avLst/>
          </a:prstGeom>
          <a:noFill/>
          <a:ln w="25400">
            <a:solidFill>
              <a:srgbClr val="667EE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949440" y="1051560"/>
            <a:ext cx="1828800" cy="685800"/>
          </a:xfrm>
          <a:prstGeom prst="rect">
            <a:avLst/>
          </a:prstGeom>
          <a:solidFill>
            <a:srgbClr val="1E3A5F"/>
          </a:solidFill>
          <a:ln w="19050">
            <a:solidFill>
              <a:srgbClr val="667EE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949440" y="1069848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Classement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µ − 3σ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949440" y="1472184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conservateur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65760" y="1965960"/>
            <a:ext cx="4160520" cy="960120"/>
          </a:xfrm>
          <a:prstGeom prst="rect">
            <a:avLst/>
          </a:prstGeom>
          <a:solidFill>
            <a:srgbClr val="0A0F1E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1965960"/>
            <a:ext cx="4160520" cy="36576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202996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Formule du résultat du match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02920" y="230428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P(j1 gagne) = 1 / (1 + 10^(-diff / 10))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02920" y="2633472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diff = compétence(j1) - compétence(j2)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663440" y="1965960"/>
            <a:ext cx="4160520" cy="2834640"/>
          </a:xfrm>
          <a:prstGeom prst="rect">
            <a:avLst/>
          </a:prstGeom>
          <a:solidFill>
            <a:srgbClr val="161B22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663440" y="1965960"/>
            <a:ext cx="4160520" cy="36576"/>
          </a:xfrm>
          <a:prstGeom prst="rect">
            <a:avLst/>
          </a:prstGeom>
          <a:solidFill>
            <a:srgbClr val="667EEA"/>
          </a:solidFill>
          <a:ln w="12700">
            <a:solidFill>
              <a:srgbClr val="667EE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00600" y="202996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667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Mise à jour après le match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800600" y="2423160"/>
            <a:ext cx="3840480" cy="6858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800600" y="2423160"/>
            <a:ext cx="54864" cy="68580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19472" y="2459736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Vainqueur :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919472" y="2734056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µ monte  ↑    σ diminue  ↓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800600" y="3246120"/>
            <a:ext cx="3840480" cy="6858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800600" y="3246120"/>
            <a:ext cx="54864" cy="6858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919472" y="3282696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Perdant :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4919472" y="3557016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µ descend ↓    σ diminue aussi ↓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4800600" y="416052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AB3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deux joueurs apprennent de chaque match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365760" y="3017520"/>
            <a:ext cx="4160520" cy="1828800"/>
          </a:xfrm>
          <a:prstGeom prst="rect">
            <a:avLst/>
          </a:prstGeom>
          <a:solidFill>
            <a:srgbClr val="161B22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502920" y="309067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AB3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compétence est CACHÉE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502920" y="347472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TrueSkill ne voit que </a:t>
            </a:r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"Joueur A a gagné"</a:t>
            </a:r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estime le niveau par </a:t>
            </a:r>
            <a:endParaRPr lang="en-US" sz="12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667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inférence Bayésienne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667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Convergence de µ et σ — Preuves visuelles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841248"/>
            <a:ext cx="1097280" cy="36576"/>
          </a:xfrm>
          <a:prstGeom prst="rect">
            <a:avLst/>
          </a:prstGeom>
          <a:solidFill>
            <a:srgbClr val="764BA2"/>
          </a:solidFill>
          <a:ln w="12700">
            <a:solidFill>
              <a:srgbClr val="764BA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0"/>
            <a:ext cx="1463040" cy="292608"/>
          </a:xfrm>
          <a:prstGeom prst="roundRect">
            <a:avLst>
              <a:gd name="adj" fmla="val 46875"/>
            </a:avLst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 Minimum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960120"/>
            <a:ext cx="4160520" cy="3840480"/>
          </a:xfrm>
          <a:prstGeom prst="rect">
            <a:avLst/>
          </a:prstGeom>
          <a:solidFill>
            <a:srgbClr val="161B22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960120"/>
            <a:ext cx="4160520" cy="36576"/>
          </a:xfrm>
          <a:prstGeom prst="rect">
            <a:avLst/>
          </a:prstGeom>
          <a:solidFill>
            <a:srgbClr val="667EEA"/>
          </a:solidFill>
          <a:ln w="12700">
            <a:solidFill>
              <a:srgbClr val="667E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02412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667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Graphe µ — Convergence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1417320"/>
            <a:ext cx="3840480" cy="2286000"/>
          </a:xfrm>
          <a:prstGeom prst="rect">
            <a:avLst/>
          </a:prstGeom>
          <a:solidFill>
            <a:srgbClr val="0A0F1E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74904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Matchs joués →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02920" y="2542032"/>
            <a:ext cx="3749040" cy="0"/>
          </a:xfrm>
          <a:prstGeom prst="line">
            <a:avLst/>
          </a:prstGeom>
          <a:noFill/>
          <a:ln w="6350">
            <a:solidFill>
              <a:srgbClr val="334155"/>
            </a:solidFill>
            <a:prstDash val="dash"/>
          </a:ln>
        </p:spPr>
      </p:sp>
      <p:sp>
        <p:nvSpPr>
          <p:cNvPr id="12" name="Text 10"/>
          <p:cNvSpPr/>
          <p:nvPr/>
        </p:nvSpPr>
        <p:spPr>
          <a:xfrm>
            <a:off x="475488" y="2450592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(départ)</a:t>
            </a:r>
            <a:endParaRPr lang="en-US" sz="700" dirty="0"/>
          </a:p>
        </p:txBody>
      </p:sp>
      <p:sp>
        <p:nvSpPr>
          <p:cNvPr id="13" name="Shape 11"/>
          <p:cNvSpPr/>
          <p:nvPr/>
        </p:nvSpPr>
        <p:spPr>
          <a:xfrm>
            <a:off x="548640" y="2542032"/>
            <a:ext cx="3566160" cy="-941832"/>
          </a:xfrm>
          <a:prstGeom prst="line">
            <a:avLst/>
          </a:prstGeom>
          <a:noFill/>
          <a:ln w="19050">
            <a:solidFill>
              <a:srgbClr val="4ADE8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1600200"/>
            <a:ext cx="3566160" cy="0"/>
          </a:xfrm>
          <a:prstGeom prst="line">
            <a:avLst/>
          </a:prstGeom>
          <a:noFill/>
          <a:ln w="9525">
            <a:solidFill>
              <a:srgbClr val="4ADE80"/>
            </a:solidFill>
            <a:prstDash val="sysDot"/>
          </a:ln>
        </p:spPr>
      </p:sp>
      <p:sp>
        <p:nvSpPr>
          <p:cNvPr id="15" name="Shape 13"/>
          <p:cNvSpPr/>
          <p:nvPr/>
        </p:nvSpPr>
        <p:spPr>
          <a:xfrm>
            <a:off x="548640" y="2542032"/>
            <a:ext cx="3566160" cy="-713232"/>
          </a:xfrm>
          <a:prstGeom prst="line">
            <a:avLst/>
          </a:prstGeom>
          <a:noFill/>
          <a:ln w="19050">
            <a:solidFill>
              <a:srgbClr val="60A5F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1828800"/>
            <a:ext cx="3566160" cy="0"/>
          </a:xfrm>
          <a:prstGeom prst="line">
            <a:avLst/>
          </a:prstGeom>
          <a:noFill/>
          <a:ln w="9525">
            <a:solidFill>
              <a:srgbClr val="60A5FA"/>
            </a:solidFill>
            <a:prstDash val="sysDot"/>
          </a:ln>
        </p:spPr>
      </p:sp>
      <p:sp>
        <p:nvSpPr>
          <p:cNvPr id="17" name="Shape 15"/>
          <p:cNvSpPr/>
          <p:nvPr/>
        </p:nvSpPr>
        <p:spPr>
          <a:xfrm>
            <a:off x="548640" y="2542032"/>
            <a:ext cx="3566160" cy="658368"/>
          </a:xfrm>
          <a:prstGeom prst="line">
            <a:avLst/>
          </a:prstGeom>
          <a:noFill/>
          <a:ln w="19050">
            <a:solidFill>
              <a:srgbClr val="F8717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48640" y="3200400"/>
            <a:ext cx="3566160" cy="0"/>
          </a:xfrm>
          <a:prstGeom prst="line">
            <a:avLst/>
          </a:prstGeom>
          <a:noFill/>
          <a:ln w="9525">
            <a:solidFill>
              <a:srgbClr val="F87171"/>
            </a:solidFill>
            <a:prstDash val="sysDot"/>
          </a:ln>
        </p:spPr>
      </p:sp>
      <p:sp>
        <p:nvSpPr>
          <p:cNvPr id="19" name="Shape 17"/>
          <p:cNvSpPr/>
          <p:nvPr/>
        </p:nvSpPr>
        <p:spPr>
          <a:xfrm>
            <a:off x="548640" y="2542032"/>
            <a:ext cx="3566160" cy="338328"/>
          </a:xfrm>
          <a:prstGeom prst="line">
            <a:avLst/>
          </a:prstGeom>
          <a:noFill/>
          <a:ln w="19050">
            <a:solidFill>
              <a:srgbClr val="FBBF2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8640" y="2880360"/>
            <a:ext cx="3566160" cy="0"/>
          </a:xfrm>
          <a:prstGeom prst="line">
            <a:avLst/>
          </a:prstGeom>
          <a:noFill/>
          <a:ln w="9525">
            <a:solidFill>
              <a:srgbClr val="FBBF24"/>
            </a:solidFill>
            <a:prstDash val="sysDot"/>
          </a:ln>
        </p:spPr>
      </p:sp>
      <p:sp>
        <p:nvSpPr>
          <p:cNvPr id="21" name="Shape 19"/>
          <p:cNvSpPr/>
          <p:nvPr/>
        </p:nvSpPr>
        <p:spPr>
          <a:xfrm>
            <a:off x="548640" y="2542032"/>
            <a:ext cx="3566160" cy="-210312"/>
          </a:xfrm>
          <a:prstGeom prst="line">
            <a:avLst/>
          </a:prstGeom>
          <a:noFill/>
          <a:ln w="19050">
            <a:solidFill>
              <a:srgbClr val="A78BF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48640" y="2331720"/>
            <a:ext cx="3566160" cy="0"/>
          </a:xfrm>
          <a:prstGeom prst="line">
            <a:avLst/>
          </a:prstGeom>
          <a:noFill/>
          <a:ln w="9525">
            <a:solidFill>
              <a:srgbClr val="A78BFA"/>
            </a:solidFill>
            <a:prstDash val="sysDot"/>
          </a:ln>
        </p:spPr>
      </p:sp>
      <p:sp>
        <p:nvSpPr>
          <p:cNvPr id="23" name="Text 21"/>
          <p:cNvSpPr/>
          <p:nvPr/>
        </p:nvSpPr>
        <p:spPr>
          <a:xfrm>
            <a:off x="457200" y="397764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67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µ estimé (convergence)</a:t>
            </a:r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·····  Vraie compétence cachée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663440" y="960120"/>
            <a:ext cx="4160520" cy="3840480"/>
          </a:xfrm>
          <a:prstGeom prst="rect">
            <a:avLst/>
          </a:prstGeom>
          <a:solidFill>
            <a:srgbClr val="161B22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663440" y="960120"/>
            <a:ext cx="4160520" cy="36576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00600" y="102412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Graphe σ — Certitude croissante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800600" y="1417320"/>
            <a:ext cx="3840480" cy="2286000"/>
          </a:xfrm>
          <a:prstGeom prst="rect">
            <a:avLst/>
          </a:prstGeom>
          <a:solidFill>
            <a:srgbClr val="0A0F1E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00600" y="374904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Matchs joués →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846320" y="1481328"/>
            <a:ext cx="3749040" cy="0"/>
          </a:xfrm>
          <a:prstGeom prst="line">
            <a:avLst/>
          </a:prstGeom>
          <a:noFill/>
          <a:ln w="6350">
            <a:solidFill>
              <a:srgbClr val="334155"/>
            </a:solidFill>
            <a:prstDash val="dash"/>
          </a:ln>
        </p:spPr>
      </p:sp>
      <p:sp>
        <p:nvSpPr>
          <p:cNvPr id="30" name="Text 28"/>
          <p:cNvSpPr/>
          <p:nvPr/>
        </p:nvSpPr>
        <p:spPr>
          <a:xfrm>
            <a:off x="4818888" y="1399032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 = 8.33</a:t>
            </a:r>
            <a:endParaRPr lang="en-US" sz="700" dirty="0"/>
          </a:p>
        </p:txBody>
      </p:sp>
      <p:sp>
        <p:nvSpPr>
          <p:cNvPr id="31" name="Shape 29"/>
          <p:cNvSpPr/>
          <p:nvPr/>
        </p:nvSpPr>
        <p:spPr>
          <a:xfrm>
            <a:off x="4846320" y="1490472"/>
            <a:ext cx="3657600" cy="2057400"/>
          </a:xfrm>
          <a:prstGeom prst="line">
            <a:avLst/>
          </a:prstGeom>
          <a:noFill/>
          <a:ln w="19050">
            <a:solidFill>
              <a:srgbClr val="4ADE8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846320" y="1536192"/>
            <a:ext cx="3657600" cy="2011680"/>
          </a:xfrm>
          <a:prstGeom prst="line">
            <a:avLst/>
          </a:prstGeom>
          <a:noFill/>
          <a:ln w="19050">
            <a:solidFill>
              <a:srgbClr val="60A5F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846320" y="1581912"/>
            <a:ext cx="3657600" cy="1965960"/>
          </a:xfrm>
          <a:prstGeom prst="line">
            <a:avLst/>
          </a:prstGeom>
          <a:noFill/>
          <a:ln w="19050">
            <a:solidFill>
              <a:srgbClr val="F8717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846320" y="1627632"/>
            <a:ext cx="3657600" cy="1920240"/>
          </a:xfrm>
          <a:prstGeom prst="line">
            <a:avLst/>
          </a:prstGeom>
          <a:noFill/>
          <a:ln w="19050">
            <a:solidFill>
              <a:srgbClr val="FBBF24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846320" y="1673352"/>
            <a:ext cx="3657600" cy="1874520"/>
          </a:xfrm>
          <a:prstGeom prst="line">
            <a:avLst/>
          </a:prstGeom>
          <a:noFill/>
          <a:ln w="19050">
            <a:solidFill>
              <a:srgbClr val="A78BF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846320" y="3630168"/>
            <a:ext cx="3657600" cy="0"/>
          </a:xfrm>
          <a:prstGeom prst="line">
            <a:avLst/>
          </a:prstGeom>
          <a:noFill/>
          <a:ln w="12700">
            <a:solidFill>
              <a:srgbClr val="06B6D4"/>
            </a:solidFill>
            <a:prstDash val="dash"/>
          </a:ln>
        </p:spPr>
      </p:sp>
      <p:sp>
        <p:nvSpPr>
          <p:cNvPr id="37" name="Text 35"/>
          <p:cNvSpPr/>
          <p:nvPr/>
        </p:nvSpPr>
        <p:spPr>
          <a:xfrm>
            <a:off x="4818888" y="3557016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 → 0  (certitude maximale)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4800600" y="397764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 µ converge sans jamais voir le vrai niveau
</a:t>
            </a:r>
            <a:pPr algn="l"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C'est l'inférence Bayésienne  »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667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Niveau Bon — ELO vs TrueSkill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841248"/>
            <a:ext cx="1097280" cy="36576"/>
          </a:xfrm>
          <a:prstGeom prst="rect">
            <a:avLst/>
          </a:prstGeom>
          <a:solidFill>
            <a:srgbClr val="764BA2"/>
          </a:solidFill>
          <a:ln w="12700">
            <a:solidFill>
              <a:srgbClr val="764BA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0"/>
            <a:ext cx="1463040" cy="292608"/>
          </a:xfrm>
          <a:prstGeom prst="roundRect">
            <a:avLst>
              <a:gd name="adj" fmla="val 46875"/>
            </a:avLst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 Bon</a:t>
            </a:r>
            <a:endParaRPr lang="en-US" sz="11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960120"/>
          <a:ext cx="8412480" cy="3474720"/>
        </p:xfrm>
        <a:graphic>
          <a:graphicData uri="http://schemas.openxmlformats.org/drawingml/2006/table">
            <a:tbl>
              <a:tblPr/>
              <a:tblGrid>
                <a:gridCol w="2103120"/>
                <a:gridCol w="3154680"/>
                <a:gridCol w="315468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Critère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01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TrueSkill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0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Variables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 (elo)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 (µ, σ)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Mise à jour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 = 32 fixe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Proportionnel à σ²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Incertitude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 modélisée ❌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σ explicite ✅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Équipes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 natif ❌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Natif ✅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Match nul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Résultat = 0.5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draw_probability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Convergence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Lente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3-4× plus rapide ✅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365760" y="4572000"/>
            <a:ext cx="8412480" cy="457200"/>
          </a:xfrm>
          <a:prstGeom prst="rect">
            <a:avLst/>
          </a:prstGeom>
          <a:solidFill>
            <a:srgbClr val="0A0F1E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365760" y="4572000"/>
            <a:ext cx="54864" cy="457200"/>
          </a:xfrm>
          <a:prstGeom prst="rect">
            <a:avLst/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02920" y="4626864"/>
            <a:ext cx="8138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EAB3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deux convergent vers le même classement, mais TrueSkill dit AVEC QUELLE CERTITUDE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667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Matchs par Équipes — 2v2 avec Match Nul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841248"/>
            <a:ext cx="1097280" cy="36576"/>
          </a:xfrm>
          <a:prstGeom prst="rect">
            <a:avLst/>
          </a:prstGeom>
          <a:solidFill>
            <a:srgbClr val="764BA2"/>
          </a:solidFill>
          <a:ln w="12700">
            <a:solidFill>
              <a:srgbClr val="764BA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0"/>
            <a:ext cx="1463040" cy="292608"/>
          </a:xfrm>
          <a:prstGeom prst="roundRect">
            <a:avLst>
              <a:gd name="adj" fmla="val 46875"/>
            </a:avLst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 Bon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960120"/>
            <a:ext cx="4160520" cy="2103120"/>
          </a:xfrm>
          <a:prstGeom prst="rect">
            <a:avLst/>
          </a:prstGeom>
          <a:solidFill>
            <a:srgbClr val="161B22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960120"/>
            <a:ext cx="4160520" cy="3657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02412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 d'une équipe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141732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µ_équipe  =  µ₁ + µ₂ + ...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1719072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Somme des niveaux individuels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199339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σ_équipe  =  √(σ₁² + σ₂² + ...)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230428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Racine de la somme des variances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663440" y="960120"/>
            <a:ext cx="4160520" cy="2103120"/>
          </a:xfrm>
          <a:prstGeom prst="rect">
            <a:avLst/>
          </a:prstGeom>
          <a:solidFill>
            <a:srgbClr val="161B22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63440" y="960120"/>
            <a:ext cx="4160520" cy="36576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00600" y="102412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Probabilité de match nul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800600" y="141732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proximite  =  1 - |prob_e1 - 0.5| × 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800600" y="173736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prob_nul  =  draw_prob × proximite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800600" y="210312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EAB3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 les équipes sont proches → plus le nul est probable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20040" y="3200400"/>
            <a:ext cx="8503920" cy="1691640"/>
          </a:xfrm>
          <a:prstGeom prst="rect">
            <a:avLst/>
          </a:prstGeom>
          <a:solidFill>
            <a:srgbClr val="0A0F1E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0040" y="3200400"/>
            <a:ext cx="8503920" cy="36576"/>
          </a:xfrm>
          <a:prstGeom prst="rect">
            <a:avLst/>
          </a:prstGeom>
          <a:solidFill>
            <a:srgbClr val="667EEA"/>
          </a:solidFill>
          <a:ln w="12700">
            <a:solidFill>
              <a:srgbClr val="667EE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326440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667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Algorithme Snake Draft — Équipes équilibrées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57200" y="3611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Trier [A, B, C, D, E, F] par µ décroissant (A = meilleur)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02920" y="3931920"/>
            <a:ext cx="1051560" cy="411480"/>
          </a:xfrm>
          <a:prstGeom prst="rect">
            <a:avLst/>
          </a:prstGeom>
          <a:solidFill>
            <a:srgbClr val="2A1500"/>
          </a:solidFill>
          <a:ln w="19050">
            <a:solidFill>
              <a:srgbClr val="F9731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" y="3931920"/>
            <a:ext cx="1051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1828800" y="3931920"/>
            <a:ext cx="1051560" cy="411480"/>
          </a:xfrm>
          <a:prstGeom prst="rect">
            <a:avLst/>
          </a:prstGeom>
          <a:solidFill>
            <a:srgbClr val="001A2A"/>
          </a:solidFill>
          <a:ln w="19050">
            <a:solidFill>
              <a:srgbClr val="06B6D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828800" y="3931920"/>
            <a:ext cx="1051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3154680" y="3931920"/>
            <a:ext cx="1051560" cy="411480"/>
          </a:xfrm>
          <a:prstGeom prst="rect">
            <a:avLst/>
          </a:prstGeom>
          <a:solidFill>
            <a:srgbClr val="2A1500"/>
          </a:solidFill>
          <a:ln w="19050">
            <a:solidFill>
              <a:srgbClr val="F9731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154680" y="3931920"/>
            <a:ext cx="1051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4480560" y="3931920"/>
            <a:ext cx="1051560" cy="411480"/>
          </a:xfrm>
          <a:prstGeom prst="rect">
            <a:avLst/>
          </a:prstGeom>
          <a:solidFill>
            <a:srgbClr val="001A2A"/>
          </a:solidFill>
          <a:ln w="19050">
            <a:solidFill>
              <a:srgbClr val="06B6D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480560" y="3931920"/>
            <a:ext cx="1051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5806440" y="3931920"/>
            <a:ext cx="1051560" cy="411480"/>
          </a:xfrm>
          <a:prstGeom prst="rect">
            <a:avLst/>
          </a:prstGeom>
          <a:solidFill>
            <a:srgbClr val="2A1500"/>
          </a:solidFill>
          <a:ln w="19050">
            <a:solidFill>
              <a:srgbClr val="F9731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806440" y="3931920"/>
            <a:ext cx="1051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1800" dirty="0"/>
          </a:p>
        </p:txBody>
      </p:sp>
      <p:sp>
        <p:nvSpPr>
          <p:cNvPr id="33" name="Shape 31"/>
          <p:cNvSpPr/>
          <p:nvPr/>
        </p:nvSpPr>
        <p:spPr>
          <a:xfrm>
            <a:off x="7132320" y="3931920"/>
            <a:ext cx="1051560" cy="411480"/>
          </a:xfrm>
          <a:prstGeom prst="rect">
            <a:avLst/>
          </a:prstGeom>
          <a:solidFill>
            <a:srgbClr val="001A2A"/>
          </a:solidFill>
          <a:ln w="19050">
            <a:solidFill>
              <a:srgbClr val="06B6D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132320" y="3931920"/>
            <a:ext cx="1051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457200" y="4434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E1 = [A, C, E]  (orange)        E2 = [B, D, F]  (bleu)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667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Niveau Excellent — Dynamique Temporelle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841248"/>
            <a:ext cx="1097280" cy="36576"/>
          </a:xfrm>
          <a:prstGeom prst="rect">
            <a:avLst/>
          </a:prstGeom>
          <a:solidFill>
            <a:srgbClr val="764BA2"/>
          </a:solidFill>
          <a:ln w="12700">
            <a:solidFill>
              <a:srgbClr val="764BA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0"/>
            <a:ext cx="1463040" cy="292608"/>
          </a:xfrm>
          <a:prstGeom prst="roundRect">
            <a:avLst>
              <a:gd name="adj" fmla="val 46875"/>
            </a:avLst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 Excellent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1051560"/>
            <a:ext cx="1554480" cy="731520"/>
          </a:xfrm>
          <a:prstGeom prst="rect">
            <a:avLst/>
          </a:prstGeom>
          <a:solidFill>
            <a:srgbClr val="0A0F2A"/>
          </a:solidFill>
          <a:ln w="19050">
            <a:solidFill>
              <a:srgbClr val="667E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05156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67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Saison 1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67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 matchs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874520" y="1417320"/>
            <a:ext cx="182880" cy="0"/>
          </a:xfrm>
          <a:prstGeom prst="line">
            <a:avLst/>
          </a:prstGeom>
          <a:noFill/>
          <a:ln w="19050">
            <a:solidFill>
              <a:srgbClr val="33415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057400" y="1051560"/>
            <a:ext cx="1554480" cy="731520"/>
          </a:xfrm>
          <a:prstGeom prst="rect">
            <a:avLst/>
          </a:prstGeom>
          <a:solidFill>
            <a:srgbClr val="1A1200"/>
          </a:solidFill>
          <a:ln w="25400">
            <a:solidFill>
              <a:srgbClr val="EAB30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057400" y="105156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AB3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DECAY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EAB3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 × 1.15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11880" y="1417320"/>
            <a:ext cx="182880" cy="0"/>
          </a:xfrm>
          <a:prstGeom prst="line">
            <a:avLst/>
          </a:prstGeom>
          <a:noFill/>
          <a:ln w="19050">
            <a:solidFill>
              <a:srgbClr val="33415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794760" y="1051560"/>
            <a:ext cx="1554480" cy="731520"/>
          </a:xfrm>
          <a:prstGeom prst="rect">
            <a:avLst/>
          </a:prstGeom>
          <a:solidFill>
            <a:srgbClr val="0A0F2A"/>
          </a:solidFill>
          <a:ln w="19050">
            <a:solidFill>
              <a:srgbClr val="667E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94760" y="105156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67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Saison 2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67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 matchs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349240" y="1417320"/>
            <a:ext cx="182880" cy="0"/>
          </a:xfrm>
          <a:prstGeom prst="line">
            <a:avLst/>
          </a:prstGeom>
          <a:noFill/>
          <a:ln w="19050">
            <a:solidFill>
              <a:srgbClr val="33415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532120" y="1051560"/>
            <a:ext cx="1554480" cy="731520"/>
          </a:xfrm>
          <a:prstGeom prst="rect">
            <a:avLst/>
          </a:prstGeom>
          <a:solidFill>
            <a:srgbClr val="1A1200"/>
          </a:solidFill>
          <a:ln w="25400">
            <a:solidFill>
              <a:srgbClr val="EAB30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532120" y="105156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AB3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DECAY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EAB3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 × 1.15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086600" y="1417320"/>
            <a:ext cx="182880" cy="0"/>
          </a:xfrm>
          <a:prstGeom prst="line">
            <a:avLst/>
          </a:prstGeom>
          <a:noFill/>
          <a:ln w="19050">
            <a:solidFill>
              <a:srgbClr val="33415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269480" y="1051560"/>
            <a:ext cx="1554480" cy="731520"/>
          </a:xfrm>
          <a:prstGeom prst="rect">
            <a:avLst/>
          </a:prstGeom>
          <a:solidFill>
            <a:srgbClr val="0A0F2A"/>
          </a:solidFill>
          <a:ln w="19050">
            <a:solidFill>
              <a:srgbClr val="667EE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269480" y="105156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67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Saison 3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67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 matchs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20040" y="1965960"/>
            <a:ext cx="4160520" cy="2926080"/>
          </a:xfrm>
          <a:prstGeom prst="rect">
            <a:avLst/>
          </a:prstGeom>
          <a:solidFill>
            <a:srgbClr val="161B22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0040" y="1965960"/>
            <a:ext cx="4160520" cy="36576"/>
          </a:xfrm>
          <a:prstGeom prst="rect">
            <a:avLst/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202996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AB3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Decay — Inter-saison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57200" y="2423160"/>
            <a:ext cx="38404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 augmente de 15%  →  σ_new = σ × 1.15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µ reste inchangé  →  toujours le même niveau estimé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système est moins certain → recalibrage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compétences cachées évoluent aussi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(random.gauss(µ=0, σ=2))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663440" y="1965960"/>
            <a:ext cx="4160520" cy="2926080"/>
          </a:xfrm>
          <a:prstGeom prst="rect">
            <a:avLst/>
          </a:prstGeom>
          <a:solidFill>
            <a:srgbClr val="161B22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663440" y="1965960"/>
            <a:ext cx="4160520" cy="36576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00600" y="202996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Analogie Jeux Vidéo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800600" y="2487168"/>
            <a:ext cx="3840480" cy="5943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800600" y="2487168"/>
            <a:ext cx="54864" cy="59436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919472" y="2523744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League of Legends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919472" y="278892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Reset de rang entre saisons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800600" y="3218688"/>
            <a:ext cx="3840480" cy="5943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800600" y="3218688"/>
            <a:ext cx="54864" cy="59436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919472" y="3255264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Valorant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919472" y="352044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Réévaluation des rangs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800600" y="3950208"/>
            <a:ext cx="3840480" cy="5943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800600" y="3950208"/>
            <a:ext cx="54864" cy="59436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919472" y="3986784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Xbox Live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4919472" y="425196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Système TrueSkill original (2006)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667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TrueSkill 2 — Score Composite  (Microsoft 2018)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841248"/>
            <a:ext cx="1097280" cy="36576"/>
          </a:xfrm>
          <a:prstGeom prst="rect">
            <a:avLst/>
          </a:prstGeom>
          <a:solidFill>
            <a:srgbClr val="764BA2"/>
          </a:solidFill>
          <a:ln w="12700">
            <a:solidFill>
              <a:srgbClr val="764BA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0"/>
            <a:ext cx="1463040" cy="292608"/>
          </a:xfrm>
          <a:prstGeom prst="roundRect">
            <a:avLst>
              <a:gd name="adj" fmla="val 46875"/>
            </a:avLst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 Excellent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960120"/>
            <a:ext cx="2743200" cy="2148840"/>
          </a:xfrm>
          <a:prstGeom prst="rect">
            <a:avLst/>
          </a:prstGeom>
          <a:solidFill>
            <a:srgbClr val="161B22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960120"/>
            <a:ext cx="2743200" cy="36576"/>
          </a:xfrm>
          <a:prstGeom prst="rect">
            <a:avLst/>
          </a:prstGeom>
          <a:solidFill>
            <a:srgbClr val="667EEA"/>
          </a:solidFill>
          <a:ln w="12700">
            <a:solidFill>
              <a:srgbClr val="667EE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11480" y="1024128"/>
            <a:ext cx="347472" cy="347472"/>
          </a:xfrm>
          <a:prstGeom prst="ellipse">
            <a:avLst/>
          </a:prstGeom>
          <a:solidFill>
            <a:srgbClr val="667EEA"/>
          </a:solidFill>
          <a:ln w="12700">
            <a:solidFill>
              <a:srgbClr val="667E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0241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22960" y="1033272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667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TrueSkill 1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11480" y="146304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µ − 3σ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11480" y="18288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du classement conservateur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64408" y="960120"/>
            <a:ext cx="2743200" cy="2148840"/>
          </a:xfrm>
          <a:prstGeom prst="rect">
            <a:avLst/>
          </a:prstGeom>
          <a:solidFill>
            <a:srgbClr val="161B22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64408" y="960120"/>
            <a:ext cx="2743200" cy="36576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355848" y="1024128"/>
            <a:ext cx="347472" cy="347472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55848" y="10241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767328" y="1033272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Consistance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355848" y="146304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nb_victoires / nb_matchs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355848" y="18288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Taux de victoire  (0 = perd tout, 1 = gagne tout)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208776" y="960120"/>
            <a:ext cx="2743200" cy="2148840"/>
          </a:xfrm>
          <a:prstGeom prst="rect">
            <a:avLst/>
          </a:prstGeom>
          <a:solidFill>
            <a:srgbClr val="161B22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208776" y="960120"/>
            <a:ext cx="2743200" cy="3657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300216" y="1024128"/>
            <a:ext cx="347472" cy="347472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00216" y="10241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711696" y="1033272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Facteur d'activité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300216" y="146304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1 - e^(-n / 15)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300216" y="18288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Confiance liée au nombre de matchs joués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20040" y="3246120"/>
            <a:ext cx="8503920" cy="777240"/>
          </a:xfrm>
          <a:prstGeom prst="rect">
            <a:avLst/>
          </a:prstGeom>
          <a:solidFill>
            <a:srgbClr val="0A0F1E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20040" y="3246120"/>
            <a:ext cx="8503920" cy="36576"/>
          </a:xfrm>
          <a:prstGeom prst="rect">
            <a:avLst/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33375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AB30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Score TS2  =  (µ − 3σ)  ×  (0.4 + 0.6 × consistance)  ×  (0.4 + 0.6 × activité)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320040" y="4114800"/>
            <a:ext cx="8503920" cy="914400"/>
          </a:xfrm>
          <a:prstGeom prst="rect">
            <a:avLst/>
          </a:prstGeom>
          <a:solidFill>
            <a:srgbClr val="161B22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457200" y="418795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Joueur A  ·  µ=35, σ=2, 80% victoires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57200" y="446227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TS1 = 29   →   TS2 = 23.5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4572000" y="418795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Joueur B  ·  µ=34, σ=2, 30% victoires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572000" y="446227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TS1 = 28   →   TS2 = 10.6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320040" y="4681728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EAB3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classé DEVANT B malgré des µ identiques !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667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Graphique — Dashboard Streamlit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841248"/>
            <a:ext cx="1097280" cy="36576"/>
          </a:xfrm>
          <a:prstGeom prst="rect">
            <a:avLst/>
          </a:prstGeom>
          <a:solidFill>
            <a:srgbClr val="764BA2"/>
          </a:solidFill>
          <a:ln w="12700">
            <a:solidFill>
              <a:srgbClr val="764BA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960120"/>
            <a:ext cx="4206240" cy="1234440"/>
          </a:xfrm>
          <a:prstGeom prst="rect">
            <a:avLst/>
          </a:prstGeom>
          <a:solidFill>
            <a:srgbClr val="161B22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960120"/>
            <a:ext cx="4206240" cy="36576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5156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Niveau Minimum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435608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Graphes de convergence µ/σ interactifs (Plotly)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54880" y="960120"/>
            <a:ext cx="4206240" cy="1234440"/>
          </a:xfrm>
          <a:prstGeom prst="rect">
            <a:avLst/>
          </a:prstGeom>
          <a:solidFill>
            <a:srgbClr val="161B22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960120"/>
            <a:ext cx="4206240" cy="3657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92040" y="105156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 Niveau Bon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892040" y="1435608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Comparaison ELO vs TrueSkill + matchs d'équipes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0040" y="2377440"/>
            <a:ext cx="4206240" cy="1234440"/>
          </a:xfrm>
          <a:prstGeom prst="rect">
            <a:avLst/>
          </a:prstGeom>
          <a:solidFill>
            <a:srgbClr val="161B22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" y="2377440"/>
            <a:ext cx="4206240" cy="36576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46888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Niveau Excellent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7200" y="2852928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Saisons + heatmap des classements inter-saisons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754880" y="2377440"/>
            <a:ext cx="4206240" cy="1234440"/>
          </a:xfrm>
          <a:prstGeom prst="rect">
            <a:avLst/>
          </a:prstGeom>
          <a:solidFill>
            <a:srgbClr val="161B22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54880" y="2377440"/>
            <a:ext cx="4206240" cy="36576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92040" y="246888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🎮  Matchmaking Live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892040" y="2852928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Sélectionner 2 joueurs → proba en temps réel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20040" y="3886200"/>
            <a:ext cx="8503920" cy="1097280"/>
          </a:xfrm>
          <a:prstGeom prst="rect">
            <a:avLst/>
          </a:prstGeom>
          <a:solidFill>
            <a:srgbClr val="0A0F1E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0040" y="3886200"/>
            <a:ext cx="8503920" cy="36576"/>
          </a:xfrm>
          <a:prstGeom prst="rect">
            <a:avLst/>
          </a:prstGeom>
          <a:solidFill>
            <a:srgbClr val="667EEA"/>
          </a:solidFill>
          <a:ln w="12700">
            <a:solidFill>
              <a:srgbClr val="667EE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395020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667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Sidebar interactive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57200" y="42793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Sliders : nb_joueurs, nb_matchs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Graine aléatoire (reproductible)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@st.cache_data : évite de relancer si params inchangés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Plotly : graphes zoomables avec survol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667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Technologies &amp; Complexité Algorithmique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841248"/>
            <a:ext cx="1097280" cy="36576"/>
          </a:xfrm>
          <a:prstGeom prst="rect">
            <a:avLst/>
          </a:prstGeom>
          <a:solidFill>
            <a:srgbClr val="764BA2"/>
          </a:solidFill>
          <a:ln w="12700">
            <a:solidFill>
              <a:srgbClr val="764BA2"/>
            </a:solidFill>
            <a:prstDash val="solid"/>
          </a:ln>
        </p:spPr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960120"/>
          <a:ext cx="8503920" cy="2743200"/>
        </p:xfrm>
        <a:graphic>
          <a:graphicData uri="http://schemas.openxmlformats.org/drawingml/2006/table">
            <a:tbl>
              <a:tblPr/>
              <a:tblGrid>
                <a:gridCol w="2560320"/>
                <a:gridCol w="1463040"/>
                <a:gridCol w="4480560"/>
              </a:tblGrid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Opération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Complexité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Explication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Simulation N matchs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 appels à simuler_match()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Classement final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EAB30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 log n)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sorted() = tri rapide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Matchmaking intelligent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973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O(N×n)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Recherche adversaire à chaque match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Saisons complètes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6B6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O(S×N)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 saisons × N matchs/saison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Programme complet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0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0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1 seconde pour 200 matchs / 10 joueurs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0E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320040" y="3840480"/>
            <a:ext cx="8503920" cy="1143000"/>
          </a:xfrm>
          <a:prstGeom prst="rect">
            <a:avLst/>
          </a:prstGeom>
          <a:solidFill>
            <a:srgbClr val="161B22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320040" y="3840480"/>
            <a:ext cx="8503920" cy="36576"/>
          </a:xfrm>
          <a:prstGeom prst="rect">
            <a:avLst/>
          </a:prstGeom>
          <a:solidFill>
            <a:srgbClr val="667EEA"/>
          </a:solidFill>
          <a:ln w="12700">
            <a:solidFill>
              <a:srgbClr val="667E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57200" y="39044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667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technique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57200" y="4270248"/>
            <a:ext cx="1078992" cy="475488"/>
          </a:xfrm>
          <a:prstGeom prst="rect">
            <a:avLst/>
          </a:prstGeom>
          <a:solidFill>
            <a:srgbClr val="1E293B"/>
          </a:solidFill>
          <a:ln w="19050">
            <a:solidFill>
              <a:srgbClr val="EAB30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57200" y="4270248"/>
            <a:ext cx="10789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AB3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1664208" y="4270248"/>
            <a:ext cx="1078992" cy="475488"/>
          </a:xfrm>
          <a:prstGeom prst="rect">
            <a:avLst/>
          </a:prstGeom>
          <a:solidFill>
            <a:srgbClr val="1E293B"/>
          </a:solidFill>
          <a:ln w="19050">
            <a:solidFill>
              <a:srgbClr val="667EE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664208" y="4270248"/>
            <a:ext cx="10789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67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trueskill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2871216" y="4270248"/>
            <a:ext cx="1078992" cy="475488"/>
          </a:xfrm>
          <a:prstGeom prst="rect">
            <a:avLst/>
          </a:prstGeom>
          <a:solidFill>
            <a:srgbClr val="1E293B"/>
          </a:solidFill>
          <a:ln w="19050">
            <a:solidFill>
              <a:srgbClr val="F97316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871216" y="4270248"/>
            <a:ext cx="10789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078224" y="4270248"/>
            <a:ext cx="1078992" cy="475488"/>
          </a:xfrm>
          <a:prstGeom prst="rect">
            <a:avLst/>
          </a:prstGeom>
          <a:solidFill>
            <a:srgbClr val="1E293B"/>
          </a:solidFill>
          <a:ln w="19050">
            <a:solidFill>
              <a:srgbClr val="06B6D4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078224" y="4270248"/>
            <a:ext cx="10789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5285232" y="4270248"/>
            <a:ext cx="1078992" cy="475488"/>
          </a:xfrm>
          <a:prstGeom prst="rect">
            <a:avLst/>
          </a:prstGeom>
          <a:solidFill>
            <a:srgbClr val="1E293B"/>
          </a:solidFill>
          <a:ln w="19050">
            <a:solidFill>
              <a:srgbClr val="22C55E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285232" y="4270248"/>
            <a:ext cx="10789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6492240" y="4270248"/>
            <a:ext cx="1078992" cy="475488"/>
          </a:xfrm>
          <a:prstGeom prst="rect">
            <a:avLst/>
          </a:prstGeom>
          <a:solidFill>
            <a:srgbClr val="1E293B"/>
          </a:solidFill>
          <a:ln w="19050">
            <a:solidFill>
              <a:srgbClr val="EF4444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492240" y="4270248"/>
            <a:ext cx="10789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7699248" y="4270248"/>
            <a:ext cx="1078992" cy="475488"/>
          </a:xfrm>
          <a:prstGeom prst="rect">
            <a:avLst/>
          </a:prstGeom>
          <a:solidFill>
            <a:srgbClr val="1E293B"/>
          </a:solidFill>
          <a:ln w="19050">
            <a:solidFill>
              <a:srgbClr val="A78BFA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699248" y="4270248"/>
            <a:ext cx="10789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plotly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667EEA"/>
          </a:solidFill>
          <a:ln w="12700">
            <a:solidFill>
              <a:srgbClr val="667EE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33772"/>
            <a:ext cx="9144000" cy="109728"/>
          </a:xfrm>
          <a:prstGeom prst="rect">
            <a:avLst/>
          </a:prstGeom>
          <a:solidFill>
            <a:srgbClr val="764BA2"/>
          </a:solidFill>
          <a:ln w="12700">
            <a:solidFill>
              <a:srgbClr val="764BA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22860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667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Bilan &amp; Perspectives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841248"/>
            <a:ext cx="1097280" cy="36576"/>
          </a:xfrm>
          <a:prstGeom prst="rect">
            <a:avLst/>
          </a:prstGeom>
          <a:solidFill>
            <a:srgbClr val="764BA2"/>
          </a:solidFill>
          <a:ln w="12700">
            <a:solidFill>
              <a:srgbClr val="764BA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960120"/>
            <a:ext cx="4160520" cy="3200400"/>
          </a:xfrm>
          <a:prstGeom prst="rect">
            <a:avLst/>
          </a:prstGeom>
          <a:solidFill>
            <a:srgbClr val="161B22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960120"/>
            <a:ext cx="4160520" cy="36576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02412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qu'on a démontré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1463040"/>
            <a:ext cx="38404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0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Convergence Bayésienne sans voir le vrai niveau</a:t>
            </a:r>
            <a:endParaRPr lang="en-US" sz="12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TrueSkill surpasse ELO en richesse d'information</a:t>
            </a:r>
            <a:endParaRPr lang="en-US" sz="12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Équipes et matchs nuls gérés nativement</a:t>
            </a:r>
            <a:endParaRPr lang="en-US" sz="12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Modélisation temporelle (decay inter-saison)</a:t>
            </a:r>
            <a:endParaRPr lang="en-US" sz="12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TrueSkill 2 : classification plus discriminante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663440" y="960120"/>
            <a:ext cx="4160520" cy="3200400"/>
          </a:xfrm>
          <a:prstGeom prst="rect">
            <a:avLst/>
          </a:prstGeom>
          <a:solidFill>
            <a:srgbClr val="161B22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63440" y="960120"/>
            <a:ext cx="4160520" cy="36576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00600" y="102412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Perspectives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00600" y="1463040"/>
            <a:ext cx="38404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0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Données réelles — Chess.com, League of Legends</a:t>
            </a:r>
            <a:endParaRPr lang="en-US" sz="12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Implémenter l'algorithme EP manuellement</a:t>
            </a:r>
            <a:endParaRPr lang="en-US" sz="12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Mesurer la vitesse de convergence TS1 vs TS2</a:t>
            </a:r>
            <a:endParaRPr lang="en-US" sz="12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Intégrer un modèle de comportement (AFK, smurfs)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20040" y="4297680"/>
            <a:ext cx="8503920" cy="685800"/>
          </a:xfrm>
          <a:prstGeom prst="rect">
            <a:avLst/>
          </a:prstGeom>
          <a:solidFill>
            <a:srgbClr val="0A0F2A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" y="4297680"/>
            <a:ext cx="73152" cy="685800"/>
          </a:xfrm>
          <a:prstGeom prst="rect">
            <a:avLst/>
          </a:prstGeom>
          <a:solidFill>
            <a:srgbClr val="667EEA"/>
          </a:solidFill>
          <a:ln w="12700">
            <a:solidFill>
              <a:srgbClr val="667EE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4352544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i="1" dirty="0">
                <a:solidFill>
                  <a:srgbClr val="667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 TrueSkill : là où ELO donne un chiffre, Bayes donne une certitude  »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TrueSkill Matchmaking — ECE Paris ING4 Groupe 02</dc:title>
  <dc:subject>PptxGenJS Presentation</dc:subject>
  <dc:creator>ECE Paris ING4 Groupe 02</dc:creator>
  <cp:lastModifiedBy>ECE Paris ING4 Groupe 02</cp:lastModifiedBy>
  <cp:revision>1</cp:revision>
  <dcterms:created xsi:type="dcterms:W3CDTF">2026-03-29T15:24:50Z</dcterms:created>
  <dcterms:modified xsi:type="dcterms:W3CDTF">2026-03-29T15:24:50Z</dcterms:modified>
</cp:coreProperties>
</file>